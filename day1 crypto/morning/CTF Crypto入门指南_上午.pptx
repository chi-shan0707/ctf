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1" r:id="rId3"/>
    <p:sldId id="410" r:id="rId4"/>
    <p:sldId id="412" r:id="rId5"/>
    <p:sldId id="413" r:id="rId6"/>
    <p:sldId id="414" r:id="rId7"/>
    <p:sldId id="415" r:id="rId8"/>
    <p:sldId id="416" r:id="rId9"/>
    <p:sldId id="417" r:id="rId10"/>
    <p:sldId id="418" r:id="rId11"/>
    <p:sldId id="419" r:id="rId12"/>
    <p:sldId id="427" r:id="rId13"/>
    <p:sldId id="428" r:id="rId14"/>
    <p:sldId id="424" r:id="rId15"/>
    <p:sldId id="425" r:id="rId16"/>
    <p:sldId id="426" r:id="rId17"/>
    <p:sldId id="429" r:id="rId18"/>
    <p:sldId id="434" r:id="rId19"/>
    <p:sldId id="432" r:id="rId20"/>
    <p:sldId id="433" r:id="rId21"/>
    <p:sldId id="435" r:id="rId22"/>
    <p:sldId id="436" r:id="rId23"/>
    <p:sldId id="437" r:id="rId24"/>
    <p:sldId id="438" r:id="rId25"/>
    <p:sldId id="420" r:id="rId26"/>
    <p:sldId id="421" r:id="rId27"/>
    <p:sldId id="422" r:id="rId28"/>
    <p:sldId id="441" r:id="rId29"/>
    <p:sldId id="442" r:id="rId30"/>
    <p:sldId id="443" r:id="rId31"/>
    <p:sldId id="444" r:id="rId32"/>
    <p:sldId id="445" r:id="rId33"/>
    <p:sldId id="446" r:id="rId34"/>
    <p:sldId id="447" r:id="rId35"/>
    <p:sldId id="448" r:id="rId36"/>
    <p:sldId id="449" r:id="rId37"/>
    <p:sldId id="45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1" Type="http://schemas.openxmlformats.org/officeDocument/2006/relationships/slideLayout" Target="../slideLayouts/slideLayout2.xml"/><Relationship Id="rId10" Type="http://schemas.openxmlformats.org/officeDocument/2006/relationships/tags" Target="../tags/tag78.xml"/><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86.xml"/><Relationship Id="rId1" Type="http://schemas.openxmlformats.org/officeDocument/2006/relationships/tags" Target="../tags/tag85.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0.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89.xml"/><Relationship Id="rId1" Type="http://schemas.openxmlformats.org/officeDocument/2006/relationships/tags" Target="../tags/tag88.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6.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95.xml"/><Relationship Id="rId1" Type="http://schemas.openxmlformats.org/officeDocument/2006/relationships/tags" Target="../tags/tag9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1.xml"/><Relationship Id="rId3" Type="http://schemas.openxmlformats.org/officeDocument/2006/relationships/image" Target="../media/image12.png"/><Relationship Id="rId2" Type="http://schemas.openxmlformats.org/officeDocument/2006/relationships/tags" Target="../tags/tag110.xml"/><Relationship Id="rId1" Type="http://schemas.openxmlformats.org/officeDocument/2006/relationships/tags" Target="../tags/tag10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1.xml"/><Relationship Id="rId5" Type="http://schemas.openxmlformats.org/officeDocument/2006/relationships/image" Target="../media/image14.png"/><Relationship Id="rId4" Type="http://schemas.openxmlformats.org/officeDocument/2006/relationships/tags" Target="../tags/tag120.xml"/><Relationship Id="rId3" Type="http://schemas.openxmlformats.org/officeDocument/2006/relationships/image" Target="../media/image13.png"/><Relationship Id="rId2" Type="http://schemas.openxmlformats.org/officeDocument/2006/relationships/tags" Target="../tags/tag119.xml"/><Relationship Id="rId1" Type="http://schemas.openxmlformats.org/officeDocument/2006/relationships/tags" Target="../tags/tag1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2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123.xml"/><Relationship Id="rId1" Type="http://schemas.openxmlformats.org/officeDocument/2006/relationships/tags" Target="../tags/tag12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7.xml"/><Relationship Id="rId3" Type="http://schemas.openxmlformats.org/officeDocument/2006/relationships/image" Target="../media/image17.png"/><Relationship Id="rId2" Type="http://schemas.openxmlformats.org/officeDocument/2006/relationships/tags" Target="../tags/tag126.xml"/><Relationship Id="rId1" Type="http://schemas.openxmlformats.org/officeDocument/2006/relationships/tags" Target="../tags/tag125.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32.xml"/><Relationship Id="rId1" Type="http://schemas.openxmlformats.org/officeDocument/2006/relationships/tags" Target="../tags/tag131.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36.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135.xml"/><Relationship Id="rId1" Type="http://schemas.openxmlformats.org/officeDocument/2006/relationships/tags" Target="../tags/tag134.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2.xml"/><Relationship Id="rId3" Type="http://schemas.openxmlformats.org/officeDocument/2006/relationships/image" Target="../media/image23.png"/><Relationship Id="rId2" Type="http://schemas.openxmlformats.org/officeDocument/2006/relationships/tags" Target="../tags/tag141.xml"/><Relationship Id="rId1" Type="http://schemas.openxmlformats.org/officeDocument/2006/relationships/tags" Target="../tags/tag140.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8.xml"/><Relationship Id="rId3" Type="http://schemas.openxmlformats.org/officeDocument/2006/relationships/image" Target="../media/image24.png"/><Relationship Id="rId2" Type="http://schemas.openxmlformats.org/officeDocument/2006/relationships/tags" Target="../tags/tag147.xml"/><Relationship Id="rId1" Type="http://schemas.openxmlformats.org/officeDocument/2006/relationships/tags" Target="../tags/tag146.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1.xml"/><Relationship Id="rId3" Type="http://schemas.openxmlformats.org/officeDocument/2006/relationships/image" Target="../media/image25.png"/><Relationship Id="rId2" Type="http://schemas.openxmlformats.org/officeDocument/2006/relationships/tags" Target="../tags/tag150.xml"/><Relationship Id="rId1" Type="http://schemas.openxmlformats.org/officeDocument/2006/relationships/tags" Target="../tags/tag149.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7.xml"/><Relationship Id="rId3" Type="http://schemas.openxmlformats.org/officeDocument/2006/relationships/image" Target="../media/image26.png"/><Relationship Id="rId2" Type="http://schemas.openxmlformats.org/officeDocument/2006/relationships/tags" Target="../tags/tag156.xml"/><Relationship Id="rId1" Type="http://schemas.openxmlformats.org/officeDocument/2006/relationships/tags" Target="../tags/tag155.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0.xml"/><Relationship Id="rId3" Type="http://schemas.openxmlformats.org/officeDocument/2006/relationships/image" Target="../media/image27.png"/><Relationship Id="rId2" Type="http://schemas.openxmlformats.org/officeDocument/2006/relationships/tags" Target="../tags/tag159.xml"/><Relationship Id="rId1" Type="http://schemas.openxmlformats.org/officeDocument/2006/relationships/tags" Target="../tags/tag158.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2.xml"/><Relationship Id="rId2" Type="http://schemas.openxmlformats.org/officeDocument/2006/relationships/image" Target="../media/image28.png"/><Relationship Id="rId1" Type="http://schemas.openxmlformats.org/officeDocument/2006/relationships/tags" Target="../tags/tag161.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8.xml"/><Relationship Id="rId3" Type="http://schemas.openxmlformats.org/officeDocument/2006/relationships/image" Target="../media/image29.png"/><Relationship Id="rId2" Type="http://schemas.openxmlformats.org/officeDocument/2006/relationships/tags" Target="../tags/tag167.xml"/><Relationship Id="rId1" Type="http://schemas.openxmlformats.org/officeDocument/2006/relationships/tags" Target="../tags/tag166.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CTF </a:t>
            </a:r>
            <a:r>
              <a:rPr lang="zh-CN" altLang="en-US"/>
              <a:t>入门</a:t>
            </a:r>
            <a:r>
              <a:rPr lang="zh-CN" altLang="en-US"/>
              <a:t>指南（</a:t>
            </a:r>
            <a:r>
              <a:rPr lang="en-US" altLang="zh-CN"/>
              <a:t>Crypto</a:t>
            </a:r>
            <a:r>
              <a:rPr lang="zh-CN" altLang="en-US"/>
              <a:t>）</a:t>
            </a:r>
            <a:endParaRPr lang="zh-CN" altLang="en-US"/>
          </a:p>
        </p:txBody>
      </p:sp>
      <p:sp>
        <p:nvSpPr>
          <p:cNvPr id="3" name="副标题 2"/>
          <p:cNvSpPr>
            <a:spLocks noGrp="1"/>
          </p:cNvSpPr>
          <p:nvPr>
            <p:ph type="subTitle" idx="1"/>
            <p:custDataLst>
              <p:tags r:id="rId2"/>
            </p:custDataLst>
          </p:nvPr>
        </p:nvSpPr>
        <p:spPr/>
        <p:txBody>
          <a:bodyPr/>
          <a:p>
            <a:r>
              <a:rPr lang="zh-CN" altLang="en-US"/>
              <a:t>环境，代码，数学，</a:t>
            </a:r>
            <a:r>
              <a:rPr lang="en-US" altLang="zh-CN"/>
              <a:t>DEBUG</a:t>
            </a:r>
            <a:r>
              <a:rPr lang="zh-CN" altLang="en-US"/>
              <a:t>，</a:t>
            </a:r>
            <a:r>
              <a:rPr lang="en-US" altLang="zh-CN"/>
              <a:t>Endless Waiting</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杂耍与知识</a:t>
            </a:r>
          </a:p>
        </p:txBody>
      </p:sp>
      <p:sp>
        <p:nvSpPr>
          <p:cNvPr id="2" name="内容占位符 1"/>
          <p:cNvSpPr>
            <a:spLocks noGrp="1"/>
          </p:cNvSpPr>
          <p:nvPr>
            <p:ph idx="1"/>
            <p:custDataLst>
              <p:tags r:id="rId2"/>
            </p:custDataLst>
          </p:nvPr>
        </p:nvSpPr>
        <p:spPr>
          <a:xfrm>
            <a:off x="608330" y="1490345"/>
            <a:ext cx="4939665" cy="4759325"/>
          </a:xfrm>
        </p:spPr>
        <p:txBody>
          <a:bodyPr/>
          <a:lstStyle/>
          <a:p>
            <a:pPr marL="0" indent="0">
              <a:buNone/>
            </a:pPr>
            <a:r>
              <a:rPr lang="zh-CN" altLang="en-US" sz="3600" dirty="0"/>
              <a:t>枯燥的知识 </a:t>
            </a:r>
            <a:r>
              <a:rPr lang="en-US" altLang="zh-CN" sz="3600" dirty="0"/>
              <a:t>---------&gt;</a:t>
            </a:r>
            <a:endParaRPr lang="en-US" altLang="zh-CN" sz="3600" dirty="0"/>
          </a:p>
        </p:txBody>
      </p:sp>
      <p:sp>
        <p:nvSpPr>
          <p:cNvPr id="4" name="内容占位符 1"/>
          <p:cNvSpPr>
            <a:spLocks noGrp="1"/>
          </p:cNvSpPr>
          <p:nvPr>
            <p:custDataLst>
              <p:tags r:id="rId3"/>
            </p:custDataLst>
          </p:nvPr>
        </p:nvSpPr>
        <p:spPr>
          <a:xfrm>
            <a:off x="6184265" y="1586230"/>
            <a:ext cx="4939665" cy="475932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t>有趣的杂耍</a:t>
            </a:r>
            <a:endParaRPr lang="zh-CN" altLang="en-US" sz="2800" dirty="0"/>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地图与彩蛋</a:t>
            </a:r>
            <a:endParaRPr lang="zh-CN" altLang="en-US"/>
          </a:p>
        </p:txBody>
      </p:sp>
      <p:sp>
        <p:nvSpPr>
          <p:cNvPr id="2" name="内容占位符 1"/>
          <p:cNvSpPr>
            <a:spLocks noGrp="1"/>
          </p:cNvSpPr>
          <p:nvPr>
            <p:ph idx="1"/>
            <p:custDataLst>
              <p:tags r:id="rId2"/>
            </p:custDataLst>
          </p:nvPr>
        </p:nvSpPr>
        <p:spPr/>
        <p:txBody>
          <a:bodyPr>
            <a:normAutofit lnSpcReduction="10000"/>
          </a:bodyPr>
          <a:lstStyle/>
          <a:p>
            <a:r>
              <a:rPr lang="zh-CN" altLang="en-US" sz="3600" dirty="0"/>
              <a:t>编码（</a:t>
            </a:r>
            <a:r>
              <a:rPr lang="en-US" altLang="zh-CN" sz="3600" dirty="0"/>
              <a:t>Encoding</a:t>
            </a:r>
            <a:r>
              <a:rPr sz="3600" dirty="0"/>
              <a:t>）</a:t>
            </a:r>
            <a:endParaRPr sz="3600" dirty="0"/>
          </a:p>
          <a:p>
            <a:r>
              <a:rPr sz="3600">
                <a:sym typeface="+mn-ea"/>
              </a:rPr>
              <a:t>哈希（</a:t>
            </a:r>
            <a:r>
              <a:rPr lang="en-US" altLang="zh-CN" sz="3600">
                <a:sym typeface="+mn-ea"/>
              </a:rPr>
              <a:t>Hash</a:t>
            </a:r>
            <a:r>
              <a:rPr sz="3600">
                <a:sym typeface="+mn-ea"/>
              </a:rPr>
              <a:t>）</a:t>
            </a:r>
            <a:endParaRPr lang="zh-CN" altLang="en-US" sz="3600" dirty="0"/>
          </a:p>
          <a:p>
            <a:r>
              <a:rPr sz="3600">
                <a:sym typeface="+mn-ea"/>
              </a:rPr>
              <a:t>随机（</a:t>
            </a:r>
            <a:r>
              <a:rPr lang="en-US" altLang="zh-CN" sz="3600">
                <a:sym typeface="+mn-ea"/>
              </a:rPr>
              <a:t>Randomness</a:t>
            </a:r>
            <a:r>
              <a:rPr sz="3600">
                <a:sym typeface="+mn-ea"/>
              </a:rPr>
              <a:t>）</a:t>
            </a:r>
            <a:endParaRPr lang="zh-CN" altLang="en-US" sz="3600" dirty="0"/>
          </a:p>
          <a:p>
            <a:r>
              <a:rPr lang="zh-CN" altLang="en-US" sz="3600" dirty="0"/>
              <a:t>加密（</a:t>
            </a:r>
            <a:r>
              <a:rPr lang="en-US" altLang="zh-CN" sz="3600" dirty="0"/>
              <a:t>Encryption</a:t>
            </a:r>
            <a:r>
              <a:rPr sz="3600" dirty="0"/>
              <a:t>）</a:t>
            </a:r>
            <a:endParaRPr lang="zh-CN" altLang="en-US" sz="3600" dirty="0"/>
          </a:p>
          <a:p>
            <a:r>
              <a:rPr lang="en-US" altLang="zh-CN" sz="3600" dirty="0">
                <a:solidFill>
                  <a:srgbClr val="FF0000"/>
                </a:solidFill>
              </a:rPr>
              <a:t>LLM Jailbreak</a:t>
            </a:r>
            <a:r>
              <a:rPr sz="3600" dirty="0">
                <a:solidFill>
                  <a:srgbClr val="FF0000"/>
                </a:solidFill>
              </a:rPr>
              <a:t>（</a:t>
            </a:r>
            <a:r>
              <a:rPr lang="en-US" altLang="zh-CN" sz="3600" dirty="0">
                <a:solidFill>
                  <a:srgbClr val="FF0000"/>
                </a:solidFill>
              </a:rPr>
              <a:t>special guest</a:t>
            </a:r>
            <a:r>
              <a:rPr sz="3600" dirty="0">
                <a:solidFill>
                  <a:srgbClr val="FF0000"/>
                </a:solidFill>
              </a:rPr>
              <a:t>）</a:t>
            </a:r>
            <a:endParaRPr sz="3600" dirty="0">
              <a:solidFill>
                <a:srgbClr val="FF0000"/>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工具箱</a:t>
            </a:r>
          </a:p>
        </p:txBody>
      </p:sp>
      <p:sp>
        <p:nvSpPr>
          <p:cNvPr id="2" name="内容占位符 1"/>
          <p:cNvSpPr>
            <a:spLocks noGrp="1"/>
          </p:cNvSpPr>
          <p:nvPr>
            <p:ph idx="1"/>
            <p:custDataLst>
              <p:tags r:id="rId2"/>
            </p:custDataLst>
          </p:nvPr>
        </p:nvSpPr>
        <p:spPr>
          <a:xfrm>
            <a:off x="608330" y="1490345"/>
            <a:ext cx="3987165" cy="1849120"/>
          </a:xfrm>
        </p:spPr>
        <p:txBody>
          <a:bodyPr/>
          <a:lstStyle/>
          <a:p>
            <a:r>
              <a:rPr lang="en-US" altLang="zh-CN" sz="2800" dirty="0"/>
              <a:t>Python</a:t>
            </a:r>
            <a:r>
              <a:rPr sz="2800" dirty="0"/>
              <a:t>（胶水语言）</a:t>
            </a:r>
            <a:endParaRPr sz="2800" dirty="0"/>
          </a:p>
        </p:txBody>
      </p:sp>
      <p:sp>
        <p:nvSpPr>
          <p:cNvPr id="5" name="内容占位符 1"/>
          <p:cNvSpPr>
            <a:spLocks noGrp="1"/>
          </p:cNvSpPr>
          <p:nvPr>
            <p:custDataLst>
              <p:tags r:id="rId3"/>
            </p:custDataLst>
          </p:nvPr>
        </p:nvSpPr>
        <p:spPr>
          <a:xfrm>
            <a:off x="608330" y="4176395"/>
            <a:ext cx="4597400"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CyberChef</a:t>
            </a:r>
            <a:r>
              <a:rPr sz="2800" dirty="0"/>
              <a:t>（</a:t>
            </a:r>
            <a:r>
              <a:rPr lang="en-US" altLang="zh-CN" sz="2800" dirty="0"/>
              <a:t>“</a:t>
            </a:r>
            <a:r>
              <a:rPr sz="2800" dirty="0"/>
              <a:t>瑞士军刀</a:t>
            </a:r>
            <a:r>
              <a:rPr lang="en-US" altLang="zh-CN" sz="2800" dirty="0"/>
              <a:t>”</a:t>
            </a:r>
            <a:r>
              <a:rPr sz="2800" dirty="0"/>
              <a:t>）</a:t>
            </a:r>
            <a:endParaRPr sz="2800" dirty="0"/>
          </a:p>
        </p:txBody>
      </p:sp>
      <p:sp>
        <p:nvSpPr>
          <p:cNvPr id="6" name="内容占位符 1"/>
          <p:cNvSpPr>
            <a:spLocks noGrp="1"/>
          </p:cNvSpPr>
          <p:nvPr>
            <p:custDataLst>
              <p:tags r:id="rId4"/>
            </p:custDataLst>
          </p:nvPr>
        </p:nvSpPr>
        <p:spPr>
          <a:xfrm>
            <a:off x="6577965" y="1555750"/>
            <a:ext cx="4857115"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Sagemath</a:t>
            </a:r>
            <a:r>
              <a:rPr sz="2800" dirty="0"/>
              <a:t>（高级</a:t>
            </a:r>
            <a:r>
              <a:rPr sz="2800" dirty="0"/>
              <a:t>数学工具）</a:t>
            </a:r>
            <a:endParaRPr sz="2800" dirty="0"/>
          </a:p>
        </p:txBody>
      </p:sp>
      <p:sp>
        <p:nvSpPr>
          <p:cNvPr id="7" name="内容占位符 1"/>
          <p:cNvSpPr>
            <a:spLocks noGrp="1"/>
          </p:cNvSpPr>
          <p:nvPr>
            <p:custDataLst>
              <p:tags r:id="rId5"/>
            </p:custDataLst>
          </p:nvPr>
        </p:nvSpPr>
        <p:spPr>
          <a:xfrm>
            <a:off x="6278245" y="4072890"/>
            <a:ext cx="4794885"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CoCalc</a:t>
            </a:r>
            <a:r>
              <a:rPr sz="2800" dirty="0"/>
              <a:t>（在线数学工具）</a:t>
            </a:r>
            <a:endParaRPr sz="2800" dirty="0"/>
          </a:p>
        </p:txBody>
      </p:sp>
      <p:pic>
        <p:nvPicPr>
          <p:cNvPr id="8" name="图片 7"/>
          <p:cNvPicPr>
            <a:picLocks noChangeAspect="1"/>
          </p:cNvPicPr>
          <p:nvPr/>
        </p:nvPicPr>
        <p:blipFill>
          <a:blip r:embed="rId6"/>
          <a:stretch>
            <a:fillRect/>
          </a:stretch>
        </p:blipFill>
        <p:spPr>
          <a:xfrm>
            <a:off x="1662430" y="2152650"/>
            <a:ext cx="2023745" cy="2023745"/>
          </a:xfrm>
          <a:prstGeom prst="rect">
            <a:avLst/>
          </a:prstGeom>
        </p:spPr>
      </p:pic>
      <p:pic>
        <p:nvPicPr>
          <p:cNvPr id="9" name="图片 8"/>
          <p:cNvPicPr>
            <a:picLocks noChangeAspect="1"/>
          </p:cNvPicPr>
          <p:nvPr/>
        </p:nvPicPr>
        <p:blipFill>
          <a:blip r:embed="rId7"/>
          <a:stretch>
            <a:fillRect/>
          </a:stretch>
        </p:blipFill>
        <p:spPr>
          <a:xfrm>
            <a:off x="6360160" y="2329180"/>
            <a:ext cx="5074920" cy="1670685"/>
          </a:xfrm>
          <a:prstGeom prst="rect">
            <a:avLst/>
          </a:prstGeom>
        </p:spPr>
      </p:pic>
      <p:pic>
        <p:nvPicPr>
          <p:cNvPr id="10" name="图片 9"/>
          <p:cNvPicPr>
            <a:picLocks noChangeAspect="1"/>
          </p:cNvPicPr>
          <p:nvPr/>
        </p:nvPicPr>
        <p:blipFill>
          <a:blip r:embed="rId8"/>
          <a:stretch>
            <a:fillRect/>
          </a:stretch>
        </p:blipFill>
        <p:spPr>
          <a:xfrm>
            <a:off x="1765300" y="4863465"/>
            <a:ext cx="1818005" cy="1818005"/>
          </a:xfrm>
          <a:prstGeom prst="rect">
            <a:avLst/>
          </a:prstGeom>
        </p:spPr>
      </p:pic>
      <p:pic>
        <p:nvPicPr>
          <p:cNvPr id="11" name="图片 10"/>
          <p:cNvPicPr>
            <a:picLocks noChangeAspect="1"/>
          </p:cNvPicPr>
          <p:nvPr/>
        </p:nvPicPr>
        <p:blipFill>
          <a:blip r:embed="rId9"/>
          <a:stretch>
            <a:fillRect/>
          </a:stretch>
        </p:blipFill>
        <p:spPr>
          <a:xfrm>
            <a:off x="7196455" y="4986655"/>
            <a:ext cx="1609725" cy="1571625"/>
          </a:xfrm>
          <a:prstGeom prst="rect">
            <a:avLst/>
          </a:prstGeom>
        </p:spPr>
      </p:pic>
    </p:spTree>
    <p:custDataLst>
      <p:tags r:id="rId10"/>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鸡叫与</a:t>
            </a:r>
            <a:r>
              <a:rPr lang="zh-CN" altLang="en-US"/>
              <a:t>安全</a:t>
            </a:r>
            <a:endParaRPr lang="zh-CN" altLang="en-US"/>
          </a:p>
        </p:txBody>
      </p:sp>
      <p:sp>
        <p:nvSpPr>
          <p:cNvPr id="5" name="标题 2"/>
          <p:cNvSpPr>
            <a:spLocks noGrp="1"/>
          </p:cNvSpPr>
          <p:nvPr>
            <p:custDataLst>
              <p:tags r:id="rId2"/>
            </p:custDataLst>
          </p:nvPr>
        </p:nvSpPr>
        <p:spPr>
          <a:xfrm>
            <a:off x="476885" y="1564640"/>
            <a:ext cx="10968990" cy="4537075"/>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r>
              <a:rPr lang="en-US" altLang="zh-CN"/>
              <a:t>             A           </a:t>
            </a:r>
            <a:r>
              <a:t>鸡         </a:t>
            </a:r>
            <a:r>
              <a:rPr lang="en-US" altLang="zh-CN"/>
              <a:t>B</a:t>
            </a:r>
            <a:endParaRPr lang="en-US" altLang="zh-CN"/>
          </a:p>
          <a:p>
            <a:r>
              <a:rPr lang="en-US" altLang="zh-CN"/>
              <a:t>                          C</a:t>
            </a:r>
            <a:endParaRPr lang="en-US" altLang="zh-CN"/>
          </a:p>
          <a:p>
            <a:endParaRPr lang="en-US" altLang="zh-CN"/>
          </a:p>
          <a:p>
            <a:r>
              <a:rPr lang="en-US" altLang="zh-CN"/>
              <a:t>                </a:t>
            </a:r>
            <a:r>
              <a:t>（基于隐匿的安全）</a:t>
            </a: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编码 </a:t>
            </a:r>
            <a:r>
              <a:rPr lang="en-US" altLang="zh-CN"/>
              <a:t>vs </a:t>
            </a:r>
            <a:r>
              <a:t>加密</a:t>
            </a:r>
          </a:p>
        </p:txBody>
      </p:sp>
      <p:sp>
        <p:nvSpPr>
          <p:cNvPr id="2" name="内容占位符 1"/>
          <p:cNvSpPr>
            <a:spLocks noGrp="1"/>
          </p:cNvSpPr>
          <p:nvPr>
            <p:ph idx="1"/>
            <p:custDataLst>
              <p:tags r:id="rId2"/>
            </p:custDataLst>
          </p:nvPr>
        </p:nvSpPr>
        <p:spPr/>
        <p:txBody>
          <a:bodyPr/>
          <a:lstStyle/>
          <a:p>
            <a:r>
              <a:rPr sz="3600" dirty="0"/>
              <a:t>古典密码（</a:t>
            </a:r>
            <a:r>
              <a:rPr lang="en-US" altLang="zh-CN" sz="3600" dirty="0"/>
              <a:t>Ancient Crypto</a:t>
            </a:r>
            <a:r>
              <a:rPr sz="3600" dirty="0"/>
              <a:t>）</a:t>
            </a:r>
            <a:r>
              <a:rPr lang="en-US" altLang="zh-CN" sz="3600" dirty="0"/>
              <a:t>-&gt;</a:t>
            </a:r>
            <a:r>
              <a:rPr sz="3600" dirty="0"/>
              <a:t>规则简单，视信息为编码</a:t>
            </a:r>
            <a:endParaRPr sz="3600" dirty="0"/>
          </a:p>
          <a:p>
            <a:r>
              <a:rPr sz="3600" dirty="0"/>
              <a:t>现代编码（</a:t>
            </a:r>
            <a:r>
              <a:rPr lang="en-US" altLang="zh-CN" sz="3600" dirty="0"/>
              <a:t>Encoding</a:t>
            </a:r>
            <a:r>
              <a:rPr sz="3600" dirty="0"/>
              <a:t>）</a:t>
            </a:r>
            <a:r>
              <a:rPr lang="en-US" altLang="zh-CN" sz="3600" dirty="0"/>
              <a:t>-&gt; </a:t>
            </a:r>
            <a:r>
              <a:rPr sz="3600" dirty="0"/>
              <a:t>用于传输</a:t>
            </a:r>
            <a:endParaRPr sz="3600" dirty="0"/>
          </a:p>
          <a:p>
            <a:r>
              <a:rPr lang="en-US" altLang="zh-CN" sz="3600" dirty="0"/>
              <a:t>In CTF</a:t>
            </a:r>
            <a:r>
              <a:rPr sz="3600" dirty="0"/>
              <a:t>，</a:t>
            </a:r>
            <a:r>
              <a:rPr lang="en-US" altLang="zh-CN" sz="3600" dirty="0"/>
              <a:t>Ancient Crypto==Encoding</a:t>
            </a:r>
            <a:endParaRPr lang="en-US" altLang="zh-CN" sz="3600" dirty="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古典密码的把戏</a:t>
            </a:r>
          </a:p>
        </p:txBody>
      </p:sp>
      <p:sp>
        <p:nvSpPr>
          <p:cNvPr id="2" name="内容占位符 1"/>
          <p:cNvSpPr>
            <a:spLocks noGrp="1"/>
          </p:cNvSpPr>
          <p:nvPr>
            <p:ph idx="1"/>
            <p:custDataLst>
              <p:tags r:id="rId2"/>
            </p:custDataLst>
          </p:nvPr>
        </p:nvSpPr>
        <p:spPr/>
        <p:txBody>
          <a:bodyPr/>
          <a:lstStyle/>
          <a:p>
            <a:r>
              <a:rPr lang="zh-CN" altLang="en-US" dirty="0"/>
              <a:t>移位：</a:t>
            </a:r>
            <a:r>
              <a:rPr lang="zh-CN" altLang="en-US" dirty="0"/>
              <a:t>凯撒密码</a:t>
            </a:r>
            <a:endParaRPr lang="zh-CN" altLang="en-US" dirty="0"/>
          </a:p>
          <a:p>
            <a:endParaRPr lang="zh-CN" altLang="en-US" dirty="0"/>
          </a:p>
          <a:p>
            <a:endParaRPr lang="zh-CN" altLang="en-US" dirty="0"/>
          </a:p>
          <a:p>
            <a:endParaRPr lang="zh-CN" altLang="en-US" dirty="0"/>
          </a:p>
          <a:p>
            <a:endParaRPr lang="zh-CN" altLang="en-US" dirty="0"/>
          </a:p>
          <a:p>
            <a:r>
              <a:rPr lang="zh-CN" altLang="en-US" dirty="0"/>
              <a:t>换位：栅栏密码</a:t>
            </a:r>
            <a:endParaRPr lang="zh-CN" altLang="en-US" dirty="0"/>
          </a:p>
          <a:p>
            <a:endParaRPr lang="zh-CN" altLang="en-US" dirty="0"/>
          </a:p>
          <a:p>
            <a:endParaRPr lang="zh-CN" altLang="en-US" dirty="0"/>
          </a:p>
          <a:p>
            <a:r>
              <a:rPr lang="zh-CN" altLang="en-US" dirty="0"/>
              <a:t>维吉尼亚密码：凯撒密码</a:t>
            </a:r>
            <a:r>
              <a:rPr lang="en-US" altLang="zh-CN" dirty="0"/>
              <a:t>+</a:t>
            </a:r>
            <a:r>
              <a:rPr dirty="0"/>
              <a:t>密码本</a:t>
            </a:r>
            <a:endParaRPr lang="zh-CN" altLang="en-US" dirty="0"/>
          </a:p>
          <a:p>
            <a:endParaRPr lang="zh-CN" altLang="en-US" dirty="0"/>
          </a:p>
          <a:p>
            <a:endParaRPr lang="zh-CN" altLang="en-US" dirty="0"/>
          </a:p>
        </p:txBody>
      </p:sp>
      <p:pic>
        <p:nvPicPr>
          <p:cNvPr id="4" name="图片 3"/>
          <p:cNvPicPr>
            <a:picLocks noChangeAspect="1"/>
          </p:cNvPicPr>
          <p:nvPr/>
        </p:nvPicPr>
        <p:blipFill>
          <a:blip r:embed="rId3"/>
          <a:stretch>
            <a:fillRect/>
          </a:stretch>
        </p:blipFill>
        <p:spPr>
          <a:xfrm>
            <a:off x="904240" y="2031365"/>
            <a:ext cx="8880475" cy="1301115"/>
          </a:xfrm>
          <a:prstGeom prst="rect">
            <a:avLst/>
          </a:prstGeom>
        </p:spPr>
      </p:pic>
      <p:pic>
        <p:nvPicPr>
          <p:cNvPr id="5" name="图片 4"/>
          <p:cNvPicPr>
            <a:picLocks noChangeAspect="1"/>
          </p:cNvPicPr>
          <p:nvPr/>
        </p:nvPicPr>
        <p:blipFill>
          <a:blip r:embed="rId4"/>
          <a:stretch>
            <a:fillRect/>
          </a:stretch>
        </p:blipFill>
        <p:spPr>
          <a:xfrm>
            <a:off x="6008370" y="3453765"/>
            <a:ext cx="5553075" cy="1181100"/>
          </a:xfrm>
          <a:prstGeom prst="rect">
            <a:avLst/>
          </a:prstGeom>
        </p:spPr>
      </p:pic>
      <p:pic>
        <p:nvPicPr>
          <p:cNvPr id="6" name="图片 5"/>
          <p:cNvPicPr>
            <a:picLocks noChangeAspect="1"/>
          </p:cNvPicPr>
          <p:nvPr/>
        </p:nvPicPr>
        <p:blipFill>
          <a:blip r:embed="rId5"/>
          <a:stretch>
            <a:fillRect/>
          </a:stretch>
        </p:blipFill>
        <p:spPr>
          <a:xfrm>
            <a:off x="6008370" y="4755515"/>
            <a:ext cx="5158105" cy="1494155"/>
          </a:xfrm>
          <a:prstGeom prst="rect">
            <a:avLst/>
          </a:prstGeom>
        </p:spPr>
      </p:pic>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词频分析</a:t>
            </a:r>
            <a:endParaRPr lang="zh-CN" altLang="en-US"/>
          </a:p>
        </p:txBody>
      </p:sp>
      <p:sp>
        <p:nvSpPr>
          <p:cNvPr id="2" name="内容占位符 1"/>
          <p:cNvSpPr>
            <a:spLocks noGrp="1"/>
          </p:cNvSpPr>
          <p:nvPr>
            <p:ph idx="1"/>
            <p:custDataLst>
              <p:tags r:id="rId2"/>
            </p:custDataLst>
          </p:nvPr>
        </p:nvSpPr>
        <p:spPr/>
        <p:txBody>
          <a:bodyPr/>
          <a:lstStyle/>
          <a:p>
            <a:r>
              <a:rPr sz="2000" dirty="0"/>
              <a:t>许多语言字母出现的频率有迹可循</a:t>
            </a:r>
            <a:endParaRPr sz="2000" dirty="0"/>
          </a:p>
          <a:p>
            <a:endParaRPr sz="2000" dirty="0"/>
          </a:p>
          <a:p>
            <a:endParaRPr sz="2000" dirty="0"/>
          </a:p>
          <a:p>
            <a:endParaRPr sz="2000" dirty="0"/>
          </a:p>
          <a:p>
            <a:endParaRPr sz="2000" dirty="0"/>
          </a:p>
          <a:p>
            <a:r>
              <a:rPr sz="2000" dirty="0"/>
              <a:t>取定间隔进行对比即可得到密文</a:t>
            </a:r>
            <a:endParaRPr sz="2000" dirty="0"/>
          </a:p>
          <a:p>
            <a:endParaRPr sz="2000" dirty="0"/>
          </a:p>
        </p:txBody>
      </p:sp>
      <p:pic>
        <p:nvPicPr>
          <p:cNvPr id="4" name="图片 3"/>
          <p:cNvPicPr>
            <a:picLocks noChangeAspect="1"/>
          </p:cNvPicPr>
          <p:nvPr/>
        </p:nvPicPr>
        <p:blipFill>
          <a:blip r:embed="rId3"/>
          <a:stretch>
            <a:fillRect/>
          </a:stretch>
        </p:blipFill>
        <p:spPr>
          <a:xfrm>
            <a:off x="5569585" y="443230"/>
            <a:ext cx="5713730" cy="3448050"/>
          </a:xfrm>
          <a:prstGeom prst="rect">
            <a:avLst/>
          </a:prstGeom>
        </p:spPr>
      </p:pic>
      <p:pic>
        <p:nvPicPr>
          <p:cNvPr id="6" name="图片 5"/>
          <p:cNvPicPr>
            <a:picLocks noChangeAspect="1"/>
          </p:cNvPicPr>
          <p:nvPr/>
        </p:nvPicPr>
        <p:blipFill>
          <a:blip r:embed="rId4"/>
          <a:stretch>
            <a:fillRect/>
          </a:stretch>
        </p:blipFill>
        <p:spPr>
          <a:xfrm>
            <a:off x="6104255" y="3891280"/>
            <a:ext cx="5095240" cy="290068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现代搬运工</a:t>
            </a:r>
            <a:endParaRPr lang="zh-CN" altLang="en-US"/>
          </a:p>
        </p:txBody>
      </p:sp>
      <p:sp>
        <p:nvSpPr>
          <p:cNvPr id="2" name="内容占位符 1"/>
          <p:cNvSpPr>
            <a:spLocks noGrp="1"/>
          </p:cNvSpPr>
          <p:nvPr>
            <p:ph idx="1"/>
            <p:custDataLst>
              <p:tags r:id="rId2"/>
            </p:custDataLst>
          </p:nvPr>
        </p:nvSpPr>
        <p:spPr/>
        <p:txBody>
          <a:bodyPr/>
          <a:lstStyle/>
          <a:p>
            <a:r>
              <a:rPr lang="en-US" altLang="zh-CN" sz="2800" dirty="0"/>
              <a:t>base64</a:t>
            </a:r>
            <a:r>
              <a:rPr sz="2800" dirty="0"/>
              <a:t>：ZG95b3VsaWtlIGNyeXB0byBpbiBjdGY/Pw==</a:t>
            </a:r>
            <a:endParaRPr sz="2800" dirty="0"/>
          </a:p>
          <a:p>
            <a:r>
              <a:rPr lang="en-US" altLang="zh-CN" sz="2800" dirty="0"/>
              <a:t>morse</a:t>
            </a:r>
            <a:r>
              <a:rPr sz="2800" dirty="0"/>
              <a:t>：--.. --. ----. ..... -... ...-- ...- ... .- .-- - .-.. .. --. -. -.-- . -..- -... ----- -... -.-- -... .--. -... .. -... .--- -.. --. -.-- -...-</a:t>
            </a:r>
            <a:endParaRPr sz="2800" dirty="0"/>
          </a:p>
          <a:p>
            <a:r>
              <a:rPr lang="en-US" altLang="zh-CN" sz="2800" dirty="0"/>
              <a:t>base85</a:t>
            </a:r>
            <a:r>
              <a:rPr sz="2800" dirty="0"/>
              <a:t>：A8`T9Dfm1=Bkq9&amp;@rcj6FDi:9DBNG2Aj6</a:t>
            </a:r>
            <a:endParaRPr sz="2800" dirty="0"/>
          </a:p>
          <a:p>
            <a:r>
              <a:rPr sz="2800" dirty="0"/>
              <a:t>为了满足特定的传输需求而设置。</a:t>
            </a:r>
            <a:endParaRPr sz="2800" dirty="0"/>
          </a:p>
          <a:p>
            <a:r>
              <a:rPr sz="2800" dirty="0"/>
              <a:t>看到它们，丢进 </a:t>
            </a:r>
            <a:r>
              <a:rPr lang="en-US" altLang="zh-CN" sz="2800" dirty="0"/>
              <a:t>Cyberchef </a:t>
            </a:r>
            <a:r>
              <a:rPr sz="2800" dirty="0"/>
              <a:t>秒出。</a:t>
            </a:r>
            <a:endParaRPr sz="2800" dirty="0"/>
          </a:p>
          <a:p>
            <a:endParaRPr sz="2800" dirty="0"/>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自定义编码？</a:t>
            </a:r>
            <a:endParaRPr lang="zh-CN" altLang="en-US"/>
          </a:p>
        </p:txBody>
      </p:sp>
      <p:sp>
        <p:nvSpPr>
          <p:cNvPr id="2" name="内容占位符 1"/>
          <p:cNvSpPr>
            <a:spLocks noGrp="1"/>
          </p:cNvSpPr>
          <p:nvPr>
            <p:ph idx="1"/>
            <p:custDataLst>
              <p:tags r:id="rId2"/>
            </p:custDataLst>
          </p:nvPr>
        </p:nvSpPr>
        <p:spPr/>
        <p:txBody>
          <a:bodyPr/>
          <a:lstStyle/>
          <a:p>
            <a:r>
              <a:rPr lang="zh-CN" altLang="en-US" dirty="0"/>
              <a:t>考察快速学习能力。</a:t>
            </a:r>
            <a:endParaRPr lang="zh-CN" altLang="en-US" dirty="0"/>
          </a:p>
          <a:p>
            <a:r>
              <a:rPr lang="zh-CN" altLang="en-US" dirty="0"/>
              <a:t>还有编码成颜文字的：</a:t>
            </a:r>
            <a:endParaRPr lang="zh-CN" altLang="en-US" dirty="0"/>
          </a:p>
          <a:p>
            <a:r>
              <a:rPr lang="zh-CN" altLang="en-US" dirty="0"/>
              <a:t>https://fly63.com/tool/aaEncode/</a:t>
            </a:r>
            <a:endParaRPr lang="zh-CN" altLang="en-US" dirty="0"/>
          </a:p>
          <a:p>
            <a:endParaRPr lang="zh-CN" altLang="en-US" dirty="0"/>
          </a:p>
        </p:txBody>
      </p:sp>
      <p:pic>
        <p:nvPicPr>
          <p:cNvPr id="4" name="图片 3"/>
          <p:cNvPicPr>
            <a:picLocks noChangeAspect="1"/>
          </p:cNvPicPr>
          <p:nvPr/>
        </p:nvPicPr>
        <p:blipFill>
          <a:blip r:embed="rId3"/>
          <a:stretch>
            <a:fillRect/>
          </a:stretch>
        </p:blipFill>
        <p:spPr>
          <a:xfrm>
            <a:off x="6100445" y="-413385"/>
            <a:ext cx="5725795" cy="3998595"/>
          </a:xfrm>
          <a:prstGeom prst="rect">
            <a:avLst/>
          </a:prstGeom>
        </p:spPr>
      </p:pic>
      <p:pic>
        <p:nvPicPr>
          <p:cNvPr id="5" name="图片 4"/>
          <p:cNvPicPr>
            <a:picLocks noChangeAspect="1"/>
          </p:cNvPicPr>
          <p:nvPr/>
        </p:nvPicPr>
        <p:blipFill>
          <a:blip r:embed="rId4"/>
          <a:stretch>
            <a:fillRect/>
          </a:stretch>
        </p:blipFill>
        <p:spPr>
          <a:xfrm>
            <a:off x="1812925" y="3802380"/>
            <a:ext cx="6080125" cy="292608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Demo1</a:t>
            </a:r>
            <a:endParaRPr lang="en-US" altLang="zh-CN"/>
          </a:p>
        </p:txBody>
      </p:sp>
      <p:sp>
        <p:nvSpPr>
          <p:cNvPr id="2" name="内容占位符 1"/>
          <p:cNvSpPr>
            <a:spLocks noGrp="1"/>
          </p:cNvSpPr>
          <p:nvPr>
            <p:ph idx="1"/>
            <p:custDataLst>
              <p:tags r:id="rId2"/>
            </p:custDataLst>
          </p:nvPr>
        </p:nvSpPr>
        <p:spPr/>
        <p:txBody>
          <a:bodyPr/>
          <a:lstStyle/>
          <a:p>
            <a:r>
              <a:rPr lang="zh-CN" altLang="en-US" dirty="0"/>
              <a:t>--/.-/-.--/..--.-/-..././..--.-/..../.-/...-/./..--.-/.-/-./---/-/...././.-./..--.-/-.././-.-./---/-.././..../..../..../..../.-/.-/.-/.-/.-/-.../.-/.-/-.../-.../-.../.-/.-/-.../-.../.-/.-/.-/.-/.-/.-/.-/.-/-.../.-/.-/-.../.-/-.../.-/.-/.-/.-/.-/.-/.-/-.../-.../.-/-.../.-/.-/.-/-.../-.../.-/.-/.-/-.../-.../.-/.-/-.../.-/.-/.-/.-/-.../.-/-.../.-/.-/-.../.-/.-/.-/-.../-.../.-/-.../.-/.-/.-/-.../.-/.-/.-/-.../.-/.-/-.../.-/-.../-.../.-/.-/-.../-.../-.../.-/-.../.-/.-/.-/-.../.-/-.../.-/-.../-.../.-/.-/.-/-.../-.../.-/-.../.-/.-/.-/-.../.-/.-/-.../.-/.-/-.../.-/.-/.-/.-/-.../-.../.-/-.../-.../.-/.-/-.../-.../.-/.-/-.../.-/.-/-.../.-/.-/.-/-.../.-/.-/-.../.-/.-/-.../.-/.-/-.../.-/-.../.-/.-/-.../-.../.-/-.../.-/.-/.-/.-/-.../-.../.-/-.../.-/.-/-.../-.../.-</a:t>
            </a:r>
            <a:endParaRPr lang="zh-CN" altLang="en-US" dirty="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Demo2</a:t>
            </a:r>
            <a:endParaRPr lang="en-US" altLang="zh-CN"/>
          </a:p>
        </p:txBody>
      </p:sp>
      <p:sp>
        <p:nvSpPr>
          <p:cNvPr id="2" name="内容占位符 1"/>
          <p:cNvSpPr>
            <a:spLocks noGrp="1"/>
          </p:cNvSpPr>
          <p:nvPr>
            <p:ph idx="1"/>
            <p:custDataLst>
              <p:tags r:id="rId2"/>
            </p:custDataLst>
          </p:nvPr>
        </p:nvSpPr>
        <p:spPr/>
        <p:txBody>
          <a:bodyPr>
            <a:normAutofit fontScale="90000" lnSpcReduction="20000"/>
          </a:bodyPr>
          <a:lstStyle/>
          <a:p>
            <a:r>
              <a:rPr lang="zh-CN" altLang="en-US" dirty="0"/>
              <a:t>tn gpvetlv-pk uu ukvqyvkpqvipmhvq mp)vycvl qq ukv-hvjpmvl lqpmvyuvqjpv-turvtu)vycvjti ukvuyqj ukvqyv)yvyugpvymvqe gpvljpvjt)voppop)v uqyvqjpv-yyrvjpmvl lqpmvetlvmpt) ukv-(qv qvjt)vuyvo gq(mplvymvgyuipmltq yulv uv qvtu)vejtqv lvqjpv(lpvycvtv-yyrvqjy(kjqvtn gpve qjy(qvo gq(mplvymvgyuipmltq yulvlyvljpvetlvgyul )pm ukv uvjpmvyeuvb u)vdtlvepnnvtlvljpvgy(n)vcymvqjpvjyqv)thvbt)pvjpmvcppnvipmhvlnppohvtu)vlq(o )wvejpqjpmvqjpvonptl(mpvycvbtr ukvtv)t lhfgjt uvey(n)v-pveymqjvqjpvqmy(-npvycvkpqq ukv(ovtu)vo gr ukvqjpv)t l plvejpuvl())punhvtvej qpvmt-- qve qjvo urvphplvmtuvgnylpv-hvjpmvqjpmpvetlvuyqj ukvlyvipmhvmpbtmrt-npv uvqjtqvuymv) )vtn gpvqj urv qvlyvipmhvb(gjvy(qvycvqjpvethvqyvjptmvqjpvmt-- qvlthvqyv qlpncvyjv)ptmvyjv)ptmv vljtnnv-pvqyyvntqpvdejpuvljpvqjy(kjqv qvyipmvtcqpmetm)lv qvygg(mmp)vqyvjpmvqjtqvljpvy(kjqvqyvjtipveyu)pmp)vtqvqj lv-(qvtqvqjpvq bpv qvtnnvlppbp)vs( qpvutq(mtnwv-(qvejpuvqjpvmt-- qvtgq(tnnhvqyyrvtvetqgjvy(qvycv qlvet lqgytqfoygrpqvtu)vnyyrp)vtqv qvtu)vqjpuvj(mm p)vyuvtn gpvlqtmqp)vqyvjpmvcppqvcymv qvcntljp)vtgmyllvjpmvb u)vqjtqvljpvjt)vupipmv-pcympvlppuvtvmt-- qve qjvp qjpmvtvet lqgytqfoygrpqvymvtvetqgjvqyvqtrpvy(qvycv qvtu)v-(mu ukve qjvg(m yl qhvljpvmtuvtgmyllvqjpvc pn)vtcqpmv qvtu)vetlva(lqv uvq bpvqyvlppv qvoyov)yeuvtvntmkpvmt-- qfjynpv(u)pmvqjpvjp)kpvcntkv lvmpbyipfqjplpftuuyh ukf-mtgrpqlftu)f)yeufqjpfmt-- qfjynp</a:t>
            </a:r>
            <a:endParaRPr lang="zh-CN" altLang="en-US" dirty="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哈希：榨汁</a:t>
            </a:r>
            <a:endParaRPr lang="zh-CN" altLang="en-US"/>
          </a:p>
        </p:txBody>
      </p:sp>
      <p:sp>
        <p:nvSpPr>
          <p:cNvPr id="2" name="内容占位符 1"/>
          <p:cNvSpPr>
            <a:spLocks noGrp="1"/>
          </p:cNvSpPr>
          <p:nvPr>
            <p:ph idx="1"/>
            <p:custDataLst>
              <p:tags r:id="rId2"/>
            </p:custDataLst>
          </p:nvPr>
        </p:nvSpPr>
        <p:spPr/>
        <p:txBody>
          <a:bodyPr/>
          <a:lstStyle/>
          <a:p>
            <a:r>
              <a:rPr lang="zh-CN" altLang="en-US" sz="3200" dirty="0"/>
              <a:t>牛肉</a:t>
            </a:r>
            <a:r>
              <a:rPr lang="en-US" altLang="zh-CN" sz="3200" dirty="0"/>
              <a:t>------------------&gt;</a:t>
            </a:r>
            <a:r>
              <a:rPr sz="3200" dirty="0"/>
              <a:t>绞肉机</a:t>
            </a:r>
            <a:r>
              <a:rPr lang="en-US" altLang="zh-CN" sz="3200" dirty="0"/>
              <a:t>-----------------&gt;</a:t>
            </a:r>
            <a:r>
              <a:rPr sz="3200" dirty="0"/>
              <a:t>肉丸</a:t>
            </a:r>
            <a:endParaRPr sz="3200" dirty="0"/>
          </a:p>
          <a:p>
            <a:r>
              <a:rPr sz="3200" dirty="0"/>
              <a:t>无法把肉丸还原为整块的牛肉，哈希是不可逆的</a:t>
            </a:r>
            <a:endParaRPr sz="3200" dirty="0"/>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雪崩效应</a:t>
            </a:r>
          </a:p>
        </p:txBody>
      </p:sp>
      <p:sp>
        <p:nvSpPr>
          <p:cNvPr id="2" name="内容占位符 1"/>
          <p:cNvSpPr>
            <a:spLocks noGrp="1"/>
          </p:cNvSpPr>
          <p:nvPr>
            <p:ph idx="1"/>
            <p:custDataLst>
              <p:tags r:id="rId2"/>
            </p:custDataLst>
          </p:nvPr>
        </p:nvSpPr>
        <p:spPr/>
        <p:txBody>
          <a:bodyPr/>
          <a:lstStyle/>
          <a:p>
            <a:r>
              <a:rPr lang="zh-CN" altLang="en-US" sz="2800" dirty="0"/>
              <a:t>goodmorningCrypto</a:t>
            </a:r>
            <a:r>
              <a:rPr lang="en-US" altLang="zh-CN" sz="2800" dirty="0"/>
              <a:t>---MD5---&gt;A5BEB7890A053627F9AA34DFF7FA2016</a:t>
            </a:r>
            <a:endParaRPr lang="en-US" altLang="zh-CN" sz="2800" dirty="0"/>
          </a:p>
          <a:p>
            <a:r>
              <a:rPr sz="2800">
                <a:sym typeface="+mn-ea"/>
              </a:rPr>
              <a:t>goodmorning</a:t>
            </a:r>
            <a:r>
              <a:rPr lang="en-US" altLang="zh-CN" sz="2800">
                <a:sym typeface="+mn-ea"/>
              </a:rPr>
              <a:t>c</a:t>
            </a:r>
            <a:r>
              <a:rPr sz="2800">
                <a:sym typeface="+mn-ea"/>
              </a:rPr>
              <a:t>rypto </a:t>
            </a:r>
            <a:r>
              <a:rPr lang="en-US" altLang="zh-CN" sz="2800">
                <a:sym typeface="+mn-ea"/>
              </a:rPr>
              <a:t>---MD5---&gt;6889B3B2AD00B6866E12223E6BE78281</a:t>
            </a:r>
            <a:endParaRPr lang="en-US" altLang="zh-CN" sz="2800">
              <a:sym typeface="+mn-ea"/>
            </a:endParaRPr>
          </a:p>
          <a:p>
            <a:r>
              <a:rPr sz="2800">
                <a:sym typeface="+mn-ea"/>
              </a:rPr>
              <a:t>改变一个字符都会导致完全不同！</a:t>
            </a:r>
            <a:endParaRPr sz="2800">
              <a:sym typeface="+mn-ea"/>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破解方法：撞</a:t>
            </a:r>
            <a:endParaRPr lang="zh-CN" altLang="en-US"/>
          </a:p>
        </p:txBody>
      </p:sp>
      <p:sp>
        <p:nvSpPr>
          <p:cNvPr id="2" name="内容占位符 1"/>
          <p:cNvSpPr>
            <a:spLocks noGrp="1"/>
          </p:cNvSpPr>
          <p:nvPr>
            <p:ph idx="1"/>
            <p:custDataLst>
              <p:tags r:id="rId2"/>
            </p:custDataLst>
          </p:nvPr>
        </p:nvSpPr>
        <p:spPr/>
        <p:txBody>
          <a:bodyPr/>
          <a:lstStyle/>
          <a:p>
            <a:r>
              <a:rPr lang="zh-CN" altLang="en-US" sz="2800" dirty="0"/>
              <a:t>密码不长的时候你可以枚举出来。</a:t>
            </a:r>
            <a:endParaRPr lang="zh-CN" altLang="en-US" sz="2800" dirty="0"/>
          </a:p>
          <a:p>
            <a:r>
              <a:rPr lang="zh-CN" altLang="en-US" sz="2800" dirty="0"/>
              <a:t>弱密码可以用 </a:t>
            </a:r>
            <a:r>
              <a:rPr lang="en-US" altLang="zh-CN" sz="2800" dirty="0"/>
              <a:t>cmd5</a:t>
            </a:r>
            <a:r>
              <a:rPr sz="2800" dirty="0"/>
              <a:t>（彩虹表查字典</a:t>
            </a:r>
            <a:r>
              <a:rPr sz="2800" dirty="0"/>
              <a:t>）</a:t>
            </a:r>
            <a:r>
              <a:rPr sz="2800" dirty="0"/>
              <a:t>：</a:t>
            </a:r>
            <a:endParaRPr sz="2800" dirty="0"/>
          </a:p>
        </p:txBody>
      </p:sp>
      <p:pic>
        <p:nvPicPr>
          <p:cNvPr id="4" name="图片 3"/>
          <p:cNvPicPr>
            <a:picLocks noChangeAspect="1"/>
          </p:cNvPicPr>
          <p:nvPr/>
        </p:nvPicPr>
        <p:blipFill>
          <a:blip r:embed="rId3"/>
          <a:stretch>
            <a:fillRect/>
          </a:stretch>
        </p:blipFill>
        <p:spPr>
          <a:xfrm>
            <a:off x="1223645" y="2990850"/>
            <a:ext cx="8056245" cy="379476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Demo3</a:t>
            </a:r>
            <a:endParaRPr lang="en-US" altLang="zh-CN"/>
          </a:p>
        </p:txBody>
      </p:sp>
      <p:sp>
        <p:nvSpPr>
          <p:cNvPr id="2" name="内容占位符 1"/>
          <p:cNvSpPr>
            <a:spLocks noGrp="1"/>
          </p:cNvSpPr>
          <p:nvPr>
            <p:ph idx="1"/>
            <p:custDataLst>
              <p:tags r:id="rId2"/>
            </p:custDataLst>
          </p:nvPr>
        </p:nvSpPr>
        <p:spPr/>
        <p:txBody>
          <a:bodyPr/>
          <a:lstStyle/>
          <a:p>
            <a:r>
              <a:rPr lang="zh-CN" altLang="en-US" sz="2800" dirty="0"/>
              <a:t>生成 </a:t>
            </a:r>
            <a:r>
              <a:rPr lang="en-US" altLang="zh-CN" sz="2800" dirty="0"/>
              <a:t>5 </a:t>
            </a:r>
            <a:r>
              <a:rPr sz="2800" dirty="0"/>
              <a:t>个</a:t>
            </a:r>
            <a:r>
              <a:rPr lang="zh-CN" altLang="en-US" sz="2800" dirty="0"/>
              <a:t> </a:t>
            </a:r>
            <a:r>
              <a:rPr lang="en-US" altLang="zh-CN" sz="2800" dirty="0"/>
              <a:t>MD5 </a:t>
            </a:r>
            <a:r>
              <a:rPr sz="2800" dirty="0"/>
              <a:t>相同，但两两不同的</a:t>
            </a:r>
            <a:r>
              <a:rPr sz="2800" dirty="0"/>
              <a:t>串（可以包含非可见字符，用十六进制表示）</a:t>
            </a:r>
            <a:endParaRPr sz="2800" dirty="0"/>
          </a:p>
          <a:p>
            <a:r>
              <a:rPr sz="2800" dirty="0"/>
              <a:t>提示：已有成熟做法，考察信息检索能力</a:t>
            </a:r>
            <a:endParaRPr sz="2800" dirty="0"/>
          </a:p>
          <a:p>
            <a:r>
              <a:rPr sz="2800" dirty="0"/>
              <a:t>（所以人们往往不会用 </a:t>
            </a:r>
            <a:r>
              <a:rPr lang="en-US" altLang="zh-CN" sz="2800" dirty="0"/>
              <a:t>MD5 </a:t>
            </a:r>
            <a:r>
              <a:rPr sz="2800" dirty="0"/>
              <a:t>作为哈希，尤其是需要安全的场景）</a:t>
            </a:r>
            <a:endParaRPr sz="2800" dirty="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Demo4</a:t>
            </a:r>
            <a:r>
              <a:t>：</a:t>
            </a:r>
            <a:r>
              <a:rPr lang="en-US" altLang="zh-CN"/>
              <a:t>sha256 </a:t>
            </a:r>
            <a:r>
              <a:t>机制展示</a:t>
            </a:r>
          </a:p>
        </p:txBody>
      </p:sp>
      <p:sp>
        <p:nvSpPr>
          <p:cNvPr id="2" name="内容占位符 1"/>
          <p:cNvSpPr>
            <a:spLocks noGrp="1"/>
          </p:cNvSpPr>
          <p:nvPr>
            <p:ph idx="1"/>
            <p:custDataLst>
              <p:tags r:id="rId2"/>
            </p:custDataLst>
          </p:nvPr>
        </p:nvSpPr>
        <p:spPr/>
        <p:txBody>
          <a:bodyPr/>
          <a:lstStyle/>
          <a:p>
            <a:r>
              <a:rPr lang="zh-CN" altLang="en-US" dirty="0"/>
              <a:t>详细见代码</a:t>
            </a:r>
            <a:endParaRPr lang="zh-CN" altLang="en-US" dirty="0"/>
          </a:p>
          <a:p>
            <a:r>
              <a:rPr lang="zh-CN" altLang="en-US" dirty="0"/>
              <a:t>不太习惯代码的可以看可视化网站 https://sha256algorithm.com/</a:t>
            </a:r>
            <a:endParaRPr lang="zh-CN" altLang="en-US" dirty="0"/>
          </a:p>
          <a:p>
            <a:r>
              <a:rPr lang="zh-CN" altLang="en-US" dirty="0"/>
              <a:t>这里我就不打开了</a:t>
            </a:r>
            <a:endParaRPr lang="zh-CN" altLang="en-US" dirty="0"/>
          </a:p>
          <a:p>
            <a:endParaRPr lang="zh-CN" altLang="en-US" dirty="0"/>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随机的真相</a:t>
            </a:r>
            <a:endParaRPr lang="zh-CN" altLang="en-US"/>
          </a:p>
        </p:txBody>
      </p:sp>
      <p:sp>
        <p:nvSpPr>
          <p:cNvPr id="2" name="内容占位符 1"/>
          <p:cNvSpPr>
            <a:spLocks noGrp="1"/>
          </p:cNvSpPr>
          <p:nvPr>
            <p:ph idx="1"/>
            <p:custDataLst>
              <p:tags r:id="rId2"/>
            </p:custDataLst>
          </p:nvPr>
        </p:nvSpPr>
        <p:spPr>
          <a:xfrm>
            <a:off x="608330" y="1490345"/>
            <a:ext cx="4391025" cy="4759325"/>
          </a:xfrm>
        </p:spPr>
        <p:txBody>
          <a:bodyPr/>
          <a:lstStyle/>
          <a:p>
            <a:r>
              <a:rPr lang="zh-CN" altLang="en-US" sz="2800" dirty="0"/>
              <a:t>物理世界是真随机</a:t>
            </a:r>
            <a:endParaRPr lang="zh-CN" altLang="en-US" sz="2800" dirty="0"/>
          </a:p>
        </p:txBody>
      </p:sp>
      <p:pic>
        <p:nvPicPr>
          <p:cNvPr id="4" name="图片 3"/>
          <p:cNvPicPr>
            <a:picLocks noChangeAspect="1"/>
          </p:cNvPicPr>
          <p:nvPr/>
        </p:nvPicPr>
        <p:blipFill>
          <a:blip r:embed="rId3"/>
          <a:stretch>
            <a:fillRect/>
          </a:stretch>
        </p:blipFill>
        <p:spPr>
          <a:xfrm>
            <a:off x="951865" y="3413760"/>
            <a:ext cx="2476500" cy="2476500"/>
          </a:xfrm>
          <a:prstGeom prst="rect">
            <a:avLst/>
          </a:prstGeom>
        </p:spPr>
      </p:pic>
      <p:sp>
        <p:nvSpPr>
          <p:cNvPr id="5" name="内容占位符 1"/>
          <p:cNvSpPr>
            <a:spLocks noGrp="1"/>
          </p:cNvSpPr>
          <p:nvPr>
            <p:custDataLst>
              <p:tags r:id="rId4"/>
            </p:custDataLst>
          </p:nvPr>
        </p:nvSpPr>
        <p:spPr>
          <a:xfrm>
            <a:off x="5894705" y="1627505"/>
            <a:ext cx="4391025" cy="475932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800" dirty="0"/>
              <a:t>而电脑则是确定性的</a:t>
            </a:r>
            <a:endParaRPr sz="2800" dirty="0"/>
          </a:p>
        </p:txBody>
      </p:sp>
      <p:pic>
        <p:nvPicPr>
          <p:cNvPr id="6" name="图片 5"/>
          <p:cNvPicPr>
            <a:picLocks noChangeAspect="1"/>
          </p:cNvPicPr>
          <p:nvPr/>
        </p:nvPicPr>
        <p:blipFill>
          <a:blip r:embed="rId5"/>
          <a:stretch>
            <a:fillRect/>
          </a:stretch>
        </p:blipFill>
        <p:spPr>
          <a:xfrm>
            <a:off x="5671820" y="2802255"/>
            <a:ext cx="4195445" cy="3282950"/>
          </a:xfrm>
          <a:prstGeom prst="rect">
            <a:avLst/>
          </a:prstGeom>
        </p:spPr>
      </p:pic>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如何模拟随机</a:t>
            </a:r>
            <a:r>
              <a:rPr lang="en-US" altLang="zh-CN"/>
              <a:t>?</a:t>
            </a:r>
            <a:endParaRPr lang="en-US" altLang="zh-CN"/>
          </a:p>
        </p:txBody>
      </p:sp>
      <p:sp>
        <p:nvSpPr>
          <p:cNvPr id="2" name="内容占位符 1"/>
          <p:cNvSpPr>
            <a:spLocks noGrp="1"/>
          </p:cNvSpPr>
          <p:nvPr>
            <p:ph idx="1"/>
            <p:custDataLst>
              <p:tags r:id="rId2"/>
            </p:custDataLst>
          </p:nvPr>
        </p:nvSpPr>
        <p:spPr/>
        <p:txBody>
          <a:bodyPr/>
          <a:lstStyle/>
          <a:p>
            <a:r>
              <a:rPr lang="zh-CN" altLang="en-US" sz="2400" dirty="0"/>
              <a:t>朴素的想法是给定一个种子，根据种子一步步生成。</a:t>
            </a:r>
            <a:endParaRPr lang="zh-CN" altLang="en-US" sz="2400" dirty="0"/>
          </a:p>
          <a:p>
            <a:r>
              <a:rPr lang="zh-CN" altLang="en-US" sz="2400" dirty="0"/>
              <a:t>线性同余：</a:t>
            </a:r>
            <a:endParaRPr lang="zh-CN" altLang="en-US" sz="2400" dirty="0"/>
          </a:p>
          <a:p>
            <a:r>
              <a:rPr lang="zh-CN" altLang="en-US" sz="2400" dirty="0"/>
              <a:t>破解方法：高斯消元。</a:t>
            </a:r>
            <a:endParaRPr lang="zh-CN" altLang="en-US" sz="2400" dirty="0"/>
          </a:p>
          <a:p>
            <a:r>
              <a:rPr lang="en-US" altLang="zh-CN" sz="2400" dirty="0"/>
              <a:t>LSFR</a:t>
            </a:r>
            <a:r>
              <a:rPr sz="2400" dirty="0"/>
              <a:t>：</a:t>
            </a:r>
            <a:endParaRPr sz="2400" dirty="0"/>
          </a:p>
          <a:p>
            <a:r>
              <a:rPr lang="zh-CN" altLang="en-US" sz="2400" dirty="0"/>
              <a:t>破解方法：</a:t>
            </a:r>
            <a:endParaRPr lang="zh-CN" altLang="en-US" sz="2400" dirty="0"/>
          </a:p>
          <a:p>
            <a:pPr marL="0" indent="0">
              <a:buNone/>
            </a:pPr>
            <a:r>
              <a:rPr lang="en-US" altLang="zh-CN" sz="2400" dirty="0"/>
              <a:t>Berlekamp-Massey</a:t>
            </a:r>
            <a:r>
              <a:rPr lang="en-US" altLang="zh-CN" sz="2400" dirty="0"/>
              <a:t> </a:t>
            </a:r>
            <a:r>
              <a:rPr sz="2400" dirty="0"/>
              <a:t>算法。</a:t>
            </a:r>
            <a:endParaRPr sz="2400" dirty="0"/>
          </a:p>
          <a:p>
            <a:pPr marL="0" indent="0">
              <a:buNone/>
            </a:pPr>
            <a:r>
              <a:rPr sz="2400" dirty="0"/>
              <a:t>或者你高斯消元也行。</a:t>
            </a:r>
            <a:endParaRPr lang="zh-CN" altLang="en-US" sz="2400" dirty="0"/>
          </a:p>
          <a:p>
            <a:endParaRPr lang="zh-CN" altLang="en-US" sz="2400" dirty="0"/>
          </a:p>
        </p:txBody>
      </p:sp>
      <p:pic>
        <p:nvPicPr>
          <p:cNvPr id="4" name="图片 3"/>
          <p:cNvPicPr>
            <a:picLocks noChangeAspect="1"/>
          </p:cNvPicPr>
          <p:nvPr/>
        </p:nvPicPr>
        <p:blipFill>
          <a:blip r:embed="rId3"/>
          <a:stretch>
            <a:fillRect/>
          </a:stretch>
        </p:blipFill>
        <p:spPr>
          <a:xfrm>
            <a:off x="2840355" y="2046605"/>
            <a:ext cx="6504305" cy="786130"/>
          </a:xfrm>
          <a:prstGeom prst="rect">
            <a:avLst/>
          </a:prstGeom>
        </p:spPr>
      </p:pic>
      <p:pic>
        <p:nvPicPr>
          <p:cNvPr id="5" name="图片 4"/>
          <p:cNvPicPr>
            <a:picLocks noChangeAspect="1"/>
          </p:cNvPicPr>
          <p:nvPr/>
        </p:nvPicPr>
        <p:blipFill>
          <a:blip r:embed="rId4"/>
          <a:stretch>
            <a:fillRect/>
          </a:stretch>
        </p:blipFill>
        <p:spPr>
          <a:xfrm>
            <a:off x="4844415" y="3121025"/>
            <a:ext cx="6269990" cy="2396490"/>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MT19937</a:t>
            </a:r>
            <a:endParaRPr lang="en-US" altLang="zh-CN"/>
          </a:p>
        </p:txBody>
      </p:sp>
      <p:sp>
        <p:nvSpPr>
          <p:cNvPr id="2" name="内容占位符 1"/>
          <p:cNvSpPr>
            <a:spLocks noGrp="1"/>
          </p:cNvSpPr>
          <p:nvPr>
            <p:ph idx="1"/>
            <p:custDataLst>
              <p:tags r:id="rId2"/>
            </p:custDataLst>
          </p:nvPr>
        </p:nvSpPr>
        <p:spPr/>
        <p:txBody>
          <a:bodyPr/>
          <a:lstStyle/>
          <a:p>
            <a:r>
              <a:rPr sz="3600" dirty="0"/>
              <a:t>生成伪随机的事实标准。</a:t>
            </a:r>
            <a:endParaRPr sz="3600" dirty="0"/>
          </a:p>
          <a:p>
            <a:r>
              <a:rPr sz="3600" dirty="0"/>
              <a:t>包含大量复杂的操作。</a:t>
            </a:r>
            <a:endParaRPr sz="3600" dirty="0"/>
          </a:p>
          <a:p>
            <a:r>
              <a:rPr sz="3600" dirty="0"/>
              <a:t>但人们会更在意它的线性本质。</a:t>
            </a:r>
            <a:endParaRPr sz="3600" dirty="0"/>
          </a:p>
        </p:txBody>
      </p:sp>
      <p:pic>
        <p:nvPicPr>
          <p:cNvPr id="4" name="图片 3"/>
          <p:cNvPicPr>
            <a:picLocks noChangeAspect="1"/>
          </p:cNvPicPr>
          <p:nvPr/>
        </p:nvPicPr>
        <p:blipFill>
          <a:blip r:embed="rId3"/>
          <a:stretch>
            <a:fillRect/>
          </a:stretch>
        </p:blipFill>
        <p:spPr>
          <a:xfrm>
            <a:off x="873125" y="4324350"/>
            <a:ext cx="8933815" cy="2073275"/>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Demo5</a:t>
            </a:r>
            <a:r>
              <a:t>：使用 </a:t>
            </a:r>
            <a:r>
              <a:rPr lang="en-US" altLang="zh-CN"/>
              <a:t>randcrack </a:t>
            </a:r>
            <a:r>
              <a:t>爆破</a:t>
            </a:r>
          </a:p>
        </p:txBody>
      </p:sp>
      <p:sp>
        <p:nvSpPr>
          <p:cNvPr id="2" name="内容占位符 1"/>
          <p:cNvSpPr>
            <a:spLocks noGrp="1"/>
          </p:cNvSpPr>
          <p:nvPr>
            <p:ph idx="1"/>
            <p:custDataLst>
              <p:tags r:id="rId2"/>
            </p:custDataLst>
          </p:nvPr>
        </p:nvSpPr>
        <p:spPr/>
        <p:txBody>
          <a:bodyPr/>
          <a:lstStyle/>
          <a:p>
            <a:r>
              <a:rPr lang="zh-CN" altLang="en-US" sz="3200" dirty="0"/>
              <a:t>详细见代码</a:t>
            </a:r>
            <a:endParaRPr lang="zh-CN" altLang="en-US" sz="3200" dirty="0"/>
          </a:p>
          <a:p>
            <a:r>
              <a:rPr lang="zh-CN" altLang="en-US" sz="3200" dirty="0"/>
              <a:t>此外，不安全的写法 random.seed(secret_seed) 可能导致我们可以爆破时间戳</a:t>
            </a:r>
            <a:endParaRPr lang="zh-CN" altLang="en-US" sz="3200" dirty="0"/>
          </a:p>
          <a:p>
            <a:r>
              <a:rPr lang="zh-CN" altLang="en-US" sz="3200" dirty="0"/>
              <a:t>种子建议用 </a:t>
            </a:r>
            <a:r>
              <a:rPr lang="en-US" altLang="zh-CN" sz="3200" dirty="0"/>
              <a:t>os </a:t>
            </a:r>
            <a:r>
              <a:rPr sz="3200" dirty="0"/>
              <a:t>库生成随机 </a:t>
            </a:r>
            <a:r>
              <a:rPr lang="en-US" altLang="zh-CN" sz="3200" dirty="0"/>
              <a:t>bytes</a:t>
            </a:r>
            <a:endParaRPr lang="en-US" altLang="zh-CN" sz="3200" dirty="0"/>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生成模 </a:t>
            </a:r>
            <a:r>
              <a:rPr lang="en-US" altLang="zh-CN"/>
              <a:t>n </a:t>
            </a:r>
            <a:r>
              <a:t>整数的细节</a:t>
            </a:r>
          </a:p>
        </p:txBody>
      </p:sp>
      <p:sp>
        <p:nvSpPr>
          <p:cNvPr id="2" name="内容占位符 1"/>
          <p:cNvSpPr>
            <a:spLocks noGrp="1"/>
          </p:cNvSpPr>
          <p:nvPr>
            <p:ph idx="1"/>
            <p:custDataLst>
              <p:tags r:id="rId2"/>
            </p:custDataLst>
          </p:nvPr>
        </p:nvSpPr>
        <p:spPr/>
        <p:txBody>
          <a:bodyPr/>
          <a:lstStyle/>
          <a:p>
            <a:r>
              <a:rPr lang="zh-CN" altLang="en-US" dirty="0"/>
              <a:t>生成一个 </a:t>
            </a:r>
            <a:r>
              <a:rPr lang="en-US" altLang="zh-CN" dirty="0"/>
              <a:t>0 </a:t>
            </a:r>
            <a:r>
              <a:rPr dirty="0"/>
              <a:t>到 </a:t>
            </a:r>
            <a:r>
              <a:rPr lang="en-US" altLang="zh-CN" dirty="0"/>
              <a:t>n-1 </a:t>
            </a:r>
            <a:r>
              <a:rPr dirty="0"/>
              <a:t>均匀随机</a:t>
            </a:r>
            <a:r>
              <a:rPr dirty="0"/>
              <a:t>的整数，你会怎么做？</a:t>
            </a:r>
            <a:endParaRPr dirty="0"/>
          </a:p>
          <a:p>
            <a:r>
              <a:rPr dirty="0"/>
              <a:t>常见的浮点策略容易被攻破。</a:t>
            </a:r>
            <a:endParaRPr dirty="0"/>
          </a:p>
          <a:p>
            <a:r>
              <a:rPr dirty="0"/>
              <a:t>因为我们知道生成的比特的高位以及具体的位置</a:t>
            </a:r>
            <a:endParaRPr dirty="0"/>
          </a:p>
          <a:p>
            <a:r>
              <a:rPr dirty="0"/>
              <a:t>而拒绝采样则比较难编码有效状态。</a:t>
            </a:r>
            <a:endParaRPr dirty="0"/>
          </a:p>
        </p:txBody>
      </p:sp>
      <p:pic>
        <p:nvPicPr>
          <p:cNvPr id="4" name="图片 3"/>
          <p:cNvPicPr>
            <a:picLocks noChangeAspect="1"/>
          </p:cNvPicPr>
          <p:nvPr/>
        </p:nvPicPr>
        <p:blipFill>
          <a:blip r:embed="rId3"/>
          <a:stretch>
            <a:fillRect/>
          </a:stretch>
        </p:blipFill>
        <p:spPr>
          <a:xfrm>
            <a:off x="6128385" y="1936750"/>
            <a:ext cx="5588000" cy="1585595"/>
          </a:xfrm>
          <a:prstGeom prst="rect">
            <a:avLst/>
          </a:prstGeom>
        </p:spPr>
      </p:pic>
      <p:pic>
        <p:nvPicPr>
          <p:cNvPr id="5" name="图片 4"/>
          <p:cNvPicPr>
            <a:picLocks noChangeAspect="1"/>
          </p:cNvPicPr>
          <p:nvPr/>
        </p:nvPicPr>
        <p:blipFill>
          <a:blip r:embed="rId4"/>
          <a:stretch>
            <a:fillRect/>
          </a:stretch>
        </p:blipFill>
        <p:spPr>
          <a:xfrm>
            <a:off x="142875" y="5013325"/>
            <a:ext cx="12049125" cy="793115"/>
          </a:xfrm>
          <a:prstGeom prst="rect">
            <a:avLst/>
          </a:prstGeom>
        </p:spPr>
      </p:pic>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如何生成密码学安全的随机数？</a:t>
            </a:r>
            <a:endParaRPr lang="zh-CN" altLang="en-US"/>
          </a:p>
        </p:txBody>
      </p:sp>
      <p:sp>
        <p:nvSpPr>
          <p:cNvPr id="2" name="内容占位符 1"/>
          <p:cNvSpPr>
            <a:spLocks noGrp="1"/>
          </p:cNvSpPr>
          <p:nvPr>
            <p:ph idx="1"/>
            <p:custDataLst>
              <p:tags r:id="rId2"/>
            </p:custDataLst>
          </p:nvPr>
        </p:nvSpPr>
        <p:spPr/>
        <p:txBody>
          <a:bodyPr/>
          <a:lstStyle/>
          <a:p>
            <a:r>
              <a:rPr lang="zh-CN" altLang="en-US" dirty="0"/>
              <a:t>不建议用：</a:t>
            </a:r>
            <a:endParaRPr lang="zh-CN" altLang="en-US" dirty="0"/>
          </a:p>
          <a:p>
            <a:endParaRPr lang="zh-CN" altLang="en-US" dirty="0"/>
          </a:p>
          <a:p>
            <a:endParaRPr lang="zh-CN" altLang="en-US" dirty="0"/>
          </a:p>
          <a:p>
            <a:r>
              <a:rPr lang="zh-CN" altLang="en-US" dirty="0"/>
              <a:t>建议用</a:t>
            </a:r>
            <a:endParaRPr lang="zh-CN" altLang="en-US" dirty="0"/>
          </a:p>
          <a:p>
            <a:endParaRPr lang="zh-CN" altLang="en-US" dirty="0"/>
          </a:p>
        </p:txBody>
      </p:sp>
      <p:pic>
        <p:nvPicPr>
          <p:cNvPr id="5" name="图片 4"/>
          <p:cNvPicPr>
            <a:picLocks noChangeAspect="1"/>
          </p:cNvPicPr>
          <p:nvPr/>
        </p:nvPicPr>
        <p:blipFill>
          <a:blip r:embed="rId3"/>
          <a:stretch>
            <a:fillRect/>
          </a:stretch>
        </p:blipFill>
        <p:spPr>
          <a:xfrm>
            <a:off x="2393315" y="1490345"/>
            <a:ext cx="8554085" cy="1098550"/>
          </a:xfrm>
          <a:prstGeom prst="rect">
            <a:avLst/>
          </a:prstGeom>
        </p:spPr>
      </p:pic>
      <p:pic>
        <p:nvPicPr>
          <p:cNvPr id="6" name="图片 5"/>
          <p:cNvPicPr>
            <a:picLocks noChangeAspect="1"/>
          </p:cNvPicPr>
          <p:nvPr/>
        </p:nvPicPr>
        <p:blipFill>
          <a:blip r:embed="rId4"/>
          <a:stretch>
            <a:fillRect/>
          </a:stretch>
        </p:blipFill>
        <p:spPr>
          <a:xfrm>
            <a:off x="2323465" y="3288665"/>
            <a:ext cx="10281920" cy="1029970"/>
          </a:xfrm>
          <a:prstGeom prst="rect">
            <a:avLst/>
          </a:prstGeom>
        </p:spPr>
      </p:pic>
      <p:pic>
        <p:nvPicPr>
          <p:cNvPr id="7" name="图片 6"/>
          <p:cNvPicPr>
            <a:picLocks noChangeAspect="1"/>
          </p:cNvPicPr>
          <p:nvPr/>
        </p:nvPicPr>
        <p:blipFill>
          <a:blip r:embed="rId5"/>
          <a:stretch>
            <a:fillRect/>
          </a:stretch>
        </p:blipFill>
        <p:spPr>
          <a:xfrm>
            <a:off x="2228215" y="4674235"/>
            <a:ext cx="6846570" cy="1445260"/>
          </a:xfrm>
          <a:prstGeom prst="rect">
            <a:avLst/>
          </a:prstGeom>
        </p:spPr>
      </p:pic>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不安全的信道</a:t>
            </a:r>
          </a:p>
        </p:txBody>
      </p:sp>
      <p:sp>
        <p:nvSpPr>
          <p:cNvPr id="2" name="内容占位符 1"/>
          <p:cNvSpPr>
            <a:spLocks noGrp="1"/>
          </p:cNvSpPr>
          <p:nvPr>
            <p:ph idx="1"/>
            <p:custDataLst>
              <p:tags r:id="rId2"/>
            </p:custDataLst>
          </p:nvPr>
        </p:nvSpPr>
        <p:spPr/>
        <p:txBody>
          <a:bodyPr/>
          <a:lstStyle/>
          <a:p>
            <a:endParaRPr lang="zh-CN" altLang="en-US" sz="3600" dirty="0"/>
          </a:p>
          <a:p>
            <a:pPr marL="0" indent="0">
              <a:buNone/>
            </a:pPr>
            <a:r>
              <a:rPr lang="en-US" altLang="zh-CN" sz="3600" dirty="0"/>
              <a:t>A[</a:t>
            </a:r>
            <a:r>
              <a:rPr sz="3600" dirty="0"/>
              <a:t>电脑</a:t>
            </a:r>
            <a:r>
              <a:rPr lang="en-US" altLang="zh-CN" sz="3600" dirty="0"/>
              <a:t>]---------------C--------------[</a:t>
            </a:r>
            <a:r>
              <a:rPr sz="3600" dirty="0"/>
              <a:t>电脑</a:t>
            </a:r>
            <a:r>
              <a:rPr lang="en-US" altLang="zh-CN" sz="3600" dirty="0"/>
              <a:t>]B</a:t>
            </a:r>
            <a:endParaRPr lang="en-US" altLang="zh-CN" sz="3600" dirty="0"/>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非对称加密：挂锁</a:t>
            </a:r>
          </a:p>
        </p:txBody>
      </p:sp>
      <p:sp>
        <p:nvSpPr>
          <p:cNvPr id="2" name="内容占位符 1"/>
          <p:cNvSpPr>
            <a:spLocks noGrp="1"/>
          </p:cNvSpPr>
          <p:nvPr>
            <p:ph idx="1"/>
            <p:custDataLst>
              <p:tags r:id="rId2"/>
            </p:custDataLst>
          </p:nvPr>
        </p:nvSpPr>
        <p:spPr/>
        <p:txBody>
          <a:bodyPr/>
          <a:lstStyle/>
          <a:p>
            <a:r>
              <a:rPr lang="en-US" altLang="zh-CN" sz="2800" dirty="0"/>
              <a:t>A </a:t>
            </a:r>
            <a:r>
              <a:rPr sz="2800" dirty="0"/>
              <a:t>持有一把钥匙，把一把带着挂锁的箱子送给了 </a:t>
            </a:r>
            <a:r>
              <a:rPr lang="en-US" altLang="zh-CN" sz="2800" dirty="0"/>
              <a:t>B</a:t>
            </a:r>
            <a:endParaRPr lang="en-US" altLang="zh-CN" sz="2800" dirty="0"/>
          </a:p>
        </p:txBody>
      </p:sp>
      <p:pic>
        <p:nvPicPr>
          <p:cNvPr id="6" name="图片 5"/>
          <p:cNvPicPr>
            <a:picLocks noChangeAspect="1"/>
          </p:cNvPicPr>
          <p:nvPr/>
        </p:nvPicPr>
        <p:blipFill>
          <a:blip r:embed="rId3"/>
          <a:stretch>
            <a:fillRect/>
          </a:stretch>
        </p:blipFill>
        <p:spPr>
          <a:xfrm>
            <a:off x="2680970" y="2683510"/>
            <a:ext cx="2686050" cy="368617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对称加密：流加密与块加密</a:t>
            </a:r>
          </a:p>
        </p:txBody>
      </p:sp>
      <p:sp>
        <p:nvSpPr>
          <p:cNvPr id="2" name="内容占位符 1"/>
          <p:cNvSpPr>
            <a:spLocks noGrp="1"/>
          </p:cNvSpPr>
          <p:nvPr>
            <p:ph idx="1"/>
            <p:custDataLst>
              <p:tags r:id="rId2"/>
            </p:custDataLst>
          </p:nvPr>
        </p:nvSpPr>
        <p:spPr/>
        <p:txBody>
          <a:bodyPr/>
          <a:lstStyle/>
          <a:p>
            <a:r>
              <a:rPr sz="2800" dirty="0"/>
              <a:t>两种方式：</a:t>
            </a:r>
            <a:endParaRPr sz="2800" dirty="0"/>
          </a:p>
          <a:p>
            <a:r>
              <a:rPr sz="2800" dirty="0"/>
              <a:t>流加密：在密钥流上用确定性算法生成复杂的密钥流，然后直接异或或进行简单运算</a:t>
            </a:r>
            <a:r>
              <a:rPr sz="2800" dirty="0"/>
              <a:t>。</a:t>
            </a:r>
            <a:endParaRPr sz="2800" dirty="0"/>
          </a:p>
          <a:p>
            <a:r>
              <a:rPr sz="2800" dirty="0"/>
              <a:t>块加密：把明文分成一块一块的，然后和密钥一起加密出密文块</a:t>
            </a:r>
            <a:endParaRPr sz="2800" dirty="0"/>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块加密的模式：</a:t>
            </a:r>
            <a:r>
              <a:rPr lang="en-US" altLang="zh-CN"/>
              <a:t>ECB</a:t>
            </a:r>
            <a:endParaRPr lang="en-US" altLang="zh-CN"/>
          </a:p>
        </p:txBody>
      </p:sp>
      <p:sp>
        <p:nvSpPr>
          <p:cNvPr id="2" name="内容占位符 1"/>
          <p:cNvSpPr>
            <a:spLocks noGrp="1"/>
          </p:cNvSpPr>
          <p:nvPr>
            <p:ph idx="1"/>
            <p:custDataLst>
              <p:tags r:id="rId2"/>
            </p:custDataLst>
          </p:nvPr>
        </p:nvSpPr>
        <p:spPr/>
        <p:txBody>
          <a:bodyPr/>
          <a:lstStyle/>
          <a:p>
            <a:r>
              <a:rPr lang="zh-CN" altLang="en-US" sz="2400" dirty="0"/>
              <a:t>假如我有一个算法 </a:t>
            </a:r>
            <a:r>
              <a:rPr lang="en-US" altLang="zh-CN" sz="2400" dirty="0"/>
              <a:t>cipher(block,key)</a:t>
            </a:r>
            <a:endParaRPr lang="en-US" altLang="zh-CN" sz="2400" dirty="0"/>
          </a:p>
          <a:p>
            <a:r>
              <a:rPr sz="2400" dirty="0"/>
              <a:t>那么 </a:t>
            </a:r>
            <a:r>
              <a:rPr lang="en-US" altLang="zh-CN" sz="2400" dirty="0"/>
              <a:t>ECB </a:t>
            </a:r>
            <a:r>
              <a:rPr sz="2400" dirty="0"/>
              <a:t>就相当于对每个块用同一个 </a:t>
            </a:r>
            <a:r>
              <a:rPr lang="en-US" altLang="zh-CN" sz="2400" dirty="0"/>
              <a:t>key</a:t>
            </a:r>
            <a:r>
              <a:rPr sz="2400" dirty="0"/>
              <a:t>，这问题会很大，因为：</a:t>
            </a:r>
            <a:endParaRPr sz="2400" dirty="0"/>
          </a:p>
          <a:p>
            <a:endParaRPr lang="en-US" altLang="zh-CN" sz="2400" dirty="0"/>
          </a:p>
          <a:p>
            <a:endParaRPr lang="en-US" altLang="zh-CN" sz="2400" dirty="0"/>
          </a:p>
          <a:p>
            <a:endParaRPr lang="en-US" altLang="zh-CN" sz="2400" dirty="0"/>
          </a:p>
          <a:p>
            <a:endParaRPr lang="en-US" altLang="zh-CN" sz="2400" dirty="0"/>
          </a:p>
          <a:p>
            <a:r>
              <a:rPr sz="2400">
                <a:sym typeface="+mn-ea"/>
              </a:rPr>
              <a:t>所以一般会对密钥进行简单的流式变换。</a:t>
            </a:r>
            <a:endParaRPr lang="zh-CN" altLang="en-US" sz="2400" dirty="0"/>
          </a:p>
          <a:p>
            <a:endParaRPr lang="en-US" altLang="zh-CN" sz="2400" dirty="0"/>
          </a:p>
          <a:p>
            <a:endParaRPr lang="en-US" altLang="zh-CN" sz="2400" dirty="0"/>
          </a:p>
        </p:txBody>
      </p:sp>
      <p:pic>
        <p:nvPicPr>
          <p:cNvPr id="4" name="图片 3"/>
          <p:cNvPicPr>
            <a:picLocks noChangeAspect="1"/>
          </p:cNvPicPr>
          <p:nvPr/>
        </p:nvPicPr>
        <p:blipFill>
          <a:blip r:embed="rId3"/>
          <a:stretch>
            <a:fillRect/>
          </a:stretch>
        </p:blipFill>
        <p:spPr>
          <a:xfrm>
            <a:off x="880745" y="2769235"/>
            <a:ext cx="9548495" cy="2376805"/>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a:sym typeface="+mn-ea"/>
              </a:rPr>
              <a:t>块加密的模式：</a:t>
            </a:r>
            <a:r>
              <a:rPr lang="en-US" altLang="zh-CN">
                <a:sym typeface="+mn-ea"/>
              </a:rPr>
              <a:t>CBC</a:t>
            </a:r>
            <a:endParaRPr lang="en-US" altLang="zh-CN">
              <a:sym typeface="+mn-ea"/>
            </a:endParaRPr>
          </a:p>
        </p:txBody>
      </p:sp>
      <p:sp>
        <p:nvSpPr>
          <p:cNvPr id="2" name="内容占位符 1"/>
          <p:cNvSpPr>
            <a:spLocks noGrp="1"/>
          </p:cNvSpPr>
          <p:nvPr>
            <p:ph idx="1"/>
            <p:custDataLst>
              <p:tags r:id="rId2"/>
            </p:custDataLst>
          </p:nvPr>
        </p:nvSpPr>
        <p:spPr/>
        <p:txBody>
          <a:bodyPr>
            <a:noAutofit/>
          </a:bodyPr>
          <a:lstStyle/>
          <a:p>
            <a:r>
              <a:rPr sz="2800" dirty="0"/>
              <a:t>一个异或串着一个异或。</a:t>
            </a:r>
            <a:endParaRPr sz="2800" dirty="0"/>
          </a:p>
          <a:p>
            <a:r>
              <a:rPr sz="2800" dirty="0"/>
              <a:t>（引入偏移量 </a:t>
            </a:r>
            <a:r>
              <a:rPr lang="en-US" altLang="zh-CN" sz="2800" dirty="0"/>
              <a:t>IV</a:t>
            </a:r>
            <a:r>
              <a:rPr sz="2800" dirty="0"/>
              <a:t>）</a:t>
            </a:r>
            <a:endParaRPr sz="2800" dirty="0"/>
          </a:p>
          <a:p>
            <a:endParaRPr sz="2800" dirty="0"/>
          </a:p>
          <a:p>
            <a:endParaRPr sz="2800" dirty="0"/>
          </a:p>
          <a:p>
            <a:endParaRPr sz="2800" dirty="0"/>
          </a:p>
          <a:p>
            <a:r>
              <a:rPr sz="2800" dirty="0"/>
              <a:t>问题在于修改密文块的比特恰好会影响翻译出来的明文块的对应比特。</a:t>
            </a:r>
            <a:endParaRPr sz="2800" dirty="0"/>
          </a:p>
        </p:txBody>
      </p:sp>
      <p:pic>
        <p:nvPicPr>
          <p:cNvPr id="5" name="图片 4"/>
          <p:cNvPicPr>
            <a:picLocks noChangeAspect="1"/>
          </p:cNvPicPr>
          <p:nvPr/>
        </p:nvPicPr>
        <p:blipFill>
          <a:blip r:embed="rId3"/>
          <a:stretch>
            <a:fillRect/>
          </a:stretch>
        </p:blipFill>
        <p:spPr>
          <a:xfrm>
            <a:off x="5700395" y="1490345"/>
            <a:ext cx="4667250" cy="2247900"/>
          </a:xfrm>
          <a:prstGeom prst="rect">
            <a:avLst/>
          </a:prstGeom>
        </p:spPr>
      </p:pic>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a:sym typeface="+mn-ea"/>
              </a:rPr>
              <a:t>块加密的模式：</a:t>
            </a:r>
            <a:r>
              <a:rPr lang="en-US" altLang="zh-CN">
                <a:sym typeface="+mn-ea"/>
              </a:rPr>
              <a:t>CTR</a:t>
            </a:r>
            <a:endParaRPr lang="zh-CN" altLang="en-US"/>
          </a:p>
        </p:txBody>
      </p:sp>
      <p:sp>
        <p:nvSpPr>
          <p:cNvPr id="2" name="内容占位符 1"/>
          <p:cNvSpPr>
            <a:spLocks noGrp="1"/>
          </p:cNvSpPr>
          <p:nvPr>
            <p:ph idx="1"/>
            <p:custDataLst>
              <p:tags r:id="rId2"/>
            </p:custDataLst>
          </p:nvPr>
        </p:nvSpPr>
        <p:spPr/>
        <p:txBody>
          <a:bodyPr/>
          <a:lstStyle/>
          <a:p>
            <a:r>
              <a:rPr lang="zh-CN" altLang="en-US" sz="2800" dirty="0"/>
              <a:t>其实视作变种流密码即可</a:t>
            </a:r>
            <a:endParaRPr lang="zh-CN" altLang="en-US" sz="2800" dirty="0"/>
          </a:p>
          <a:p>
            <a:r>
              <a:rPr lang="zh-CN" altLang="en-US" sz="2800" dirty="0"/>
              <a:t>块加密不加密明文，而是加密递增的计数器，然后把明文和计数器异或，得到密文。</a:t>
            </a:r>
            <a:endParaRPr lang="zh-CN" altLang="en-US" sz="2800" dirty="0"/>
          </a:p>
          <a:p>
            <a:r>
              <a:rPr lang="zh-CN" altLang="en-US" sz="2800" dirty="0"/>
              <a:t>因此它不需要填充到整块长</a:t>
            </a:r>
            <a:endParaRPr lang="zh-CN" altLang="en-US" sz="2800" dirty="0"/>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非对称加密：</a:t>
            </a:r>
            <a:r>
              <a:rPr lang="en-US" altLang="zh-CN"/>
              <a:t>RSA</a:t>
            </a:r>
            <a:endParaRPr lang="en-US" altLang="zh-CN"/>
          </a:p>
        </p:txBody>
      </p:sp>
      <p:sp>
        <p:nvSpPr>
          <p:cNvPr id="2" name="内容占位符 1"/>
          <p:cNvSpPr>
            <a:spLocks noGrp="1"/>
          </p:cNvSpPr>
          <p:nvPr>
            <p:ph idx="1"/>
            <p:custDataLst>
              <p:tags r:id="rId2"/>
            </p:custDataLst>
          </p:nvPr>
        </p:nvSpPr>
        <p:spPr/>
        <p:txBody>
          <a:bodyPr/>
          <a:lstStyle/>
          <a:p>
            <a:r>
              <a:rPr sz="2800" dirty="0"/>
              <a:t>我们先切换一下世界观，切换成，模算数的世界。</a:t>
            </a:r>
            <a:endParaRPr sz="2800" dirty="0"/>
          </a:p>
        </p:txBody>
      </p:sp>
      <p:pic>
        <p:nvPicPr>
          <p:cNvPr id="4" name="图片 3"/>
          <p:cNvPicPr>
            <a:picLocks noChangeAspect="1"/>
          </p:cNvPicPr>
          <p:nvPr/>
        </p:nvPicPr>
        <p:blipFill>
          <a:blip r:embed="rId3"/>
          <a:stretch>
            <a:fillRect/>
          </a:stretch>
        </p:blipFill>
        <p:spPr>
          <a:xfrm>
            <a:off x="1112520" y="2562225"/>
            <a:ext cx="8724900" cy="3867150"/>
          </a:xfrm>
          <a:prstGeom prst="rect">
            <a:avLst/>
          </a:prstGeom>
        </p:spPr>
      </p:pic>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RSA </a:t>
            </a:r>
            <a:r>
              <a:t>利用了什么</a:t>
            </a:r>
          </a:p>
        </p:txBody>
      </p:sp>
      <p:sp>
        <p:nvSpPr>
          <p:cNvPr id="2" name="内容占位符 1"/>
          <p:cNvSpPr>
            <a:spLocks noGrp="1"/>
          </p:cNvSpPr>
          <p:nvPr>
            <p:ph idx="1"/>
            <p:custDataLst>
              <p:tags r:id="rId2"/>
            </p:custDataLst>
          </p:nvPr>
        </p:nvSpPr>
        <p:spPr/>
        <p:txBody>
          <a:bodyPr/>
          <a:lstStyle/>
          <a:p>
            <a:r>
              <a:rPr lang="zh-CN" altLang="en-US" sz="3200" dirty="0"/>
              <a:t>大整数分解是相当困难的。</a:t>
            </a:r>
            <a:endParaRPr lang="zh-CN" altLang="en-US" sz="3200" dirty="0"/>
          </a:p>
          <a:p>
            <a:endParaRPr lang="zh-CN" altLang="en-US" sz="3200" dirty="0"/>
          </a:p>
          <a:p>
            <a:endParaRPr lang="zh-CN" altLang="en-US" sz="3200" dirty="0"/>
          </a:p>
          <a:p>
            <a:endParaRPr lang="zh-CN" altLang="en-US" sz="3200" dirty="0"/>
          </a:p>
          <a:p>
            <a:r>
              <a:rPr lang="zh-CN" altLang="en-US" sz="3200" dirty="0"/>
              <a:t>目前在传统计算机上仍然不存在关于位数的多项式时间</a:t>
            </a:r>
            <a:r>
              <a:rPr lang="zh-CN" altLang="en-US" sz="3200" dirty="0"/>
              <a:t>算法。</a:t>
            </a:r>
            <a:endParaRPr lang="zh-CN" altLang="en-US" sz="3200" dirty="0"/>
          </a:p>
        </p:txBody>
      </p:sp>
      <p:pic>
        <p:nvPicPr>
          <p:cNvPr id="4" name="图片 3"/>
          <p:cNvPicPr>
            <a:picLocks noChangeAspect="1"/>
          </p:cNvPicPr>
          <p:nvPr/>
        </p:nvPicPr>
        <p:blipFill>
          <a:blip r:embed="rId3"/>
          <a:stretch>
            <a:fillRect/>
          </a:stretch>
        </p:blipFill>
        <p:spPr>
          <a:xfrm>
            <a:off x="6927850" y="1313815"/>
            <a:ext cx="4116070" cy="3007995"/>
          </a:xfrm>
          <a:prstGeom prst="rect">
            <a:avLst/>
          </a:prstGeom>
        </p:spPr>
      </p:pic>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RSA </a:t>
            </a:r>
            <a:r>
              <a:t>怎么做的？</a:t>
            </a:r>
          </a:p>
        </p:txBody>
      </p:sp>
      <p:pic>
        <p:nvPicPr>
          <p:cNvPr id="4" name="内容占位符 3"/>
          <p:cNvPicPr>
            <a:picLocks noChangeAspect="1"/>
          </p:cNvPicPr>
          <p:nvPr>
            <p:ph idx="1"/>
          </p:nvPr>
        </p:nvPicPr>
        <p:blipFill>
          <a:blip r:embed="rId2"/>
          <a:stretch>
            <a:fillRect/>
          </a:stretch>
        </p:blipFill>
        <p:spPr>
          <a:xfrm>
            <a:off x="482600" y="1314450"/>
            <a:ext cx="10041255" cy="5255895"/>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攻击手段：工具</a:t>
            </a:r>
          </a:p>
        </p:txBody>
      </p:sp>
      <p:sp>
        <p:nvSpPr>
          <p:cNvPr id="2" name="内容占位符 1"/>
          <p:cNvSpPr>
            <a:spLocks noGrp="1"/>
          </p:cNvSpPr>
          <p:nvPr>
            <p:ph idx="1"/>
            <p:custDataLst>
              <p:tags r:id="rId2"/>
            </p:custDataLst>
          </p:nvPr>
        </p:nvSpPr>
        <p:spPr/>
        <p:txBody>
          <a:bodyPr/>
          <a:lstStyle/>
          <a:p>
            <a:r>
              <a:rPr lang="zh-CN" altLang="en-US" sz="2400" dirty="0"/>
              <a:t>对于比较容易分解的 </a:t>
            </a:r>
            <a:r>
              <a:rPr lang="en-US" altLang="zh-CN" sz="2400" dirty="0"/>
              <a:t>N</a:t>
            </a:r>
            <a:r>
              <a:rPr sz="2400" dirty="0"/>
              <a:t>，可以尝试用已有的优秀算法去分解。</a:t>
            </a:r>
            <a:endParaRPr sz="2400" dirty="0"/>
          </a:p>
          <a:p>
            <a:r>
              <a:rPr sz="2400" dirty="0"/>
              <a:t>包括 </a:t>
            </a:r>
            <a:r>
              <a:rPr lang="en-US" altLang="zh-CN" sz="2400" dirty="0"/>
              <a:t>factordb.com </a:t>
            </a:r>
            <a:r>
              <a:rPr sz="2400" dirty="0"/>
              <a:t>和 </a:t>
            </a:r>
            <a:r>
              <a:rPr lang="en-US" altLang="zh-CN" sz="2400" dirty="0"/>
              <a:t>yafu</a:t>
            </a:r>
            <a:endParaRPr lang="en-US" altLang="zh-CN" sz="2400" dirty="0"/>
          </a:p>
          <a:p>
            <a:endParaRPr lang="en-US" altLang="zh-CN" sz="2400" dirty="0"/>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Demo6</a:t>
            </a:r>
            <a:r>
              <a:t>：</a:t>
            </a:r>
          </a:p>
        </p:txBody>
      </p:sp>
      <p:sp>
        <p:nvSpPr>
          <p:cNvPr id="2" name="内容占位符 1"/>
          <p:cNvSpPr>
            <a:spLocks noGrp="1"/>
          </p:cNvSpPr>
          <p:nvPr>
            <p:ph idx="1"/>
            <p:custDataLst>
              <p:tags r:id="rId2"/>
            </p:custDataLst>
          </p:nvPr>
        </p:nvSpPr>
        <p:spPr/>
        <p:txBody>
          <a:bodyPr/>
          <a:lstStyle/>
          <a:p>
            <a:r>
              <a:rPr sz="3200">
                <a:sym typeface="+mn-ea"/>
              </a:rPr>
              <a:t>实机演示 </a:t>
            </a:r>
            <a:r>
              <a:rPr lang="en-US" altLang="zh-CN" sz="3200">
                <a:sym typeface="+mn-ea"/>
              </a:rPr>
              <a:t>factordb.com </a:t>
            </a:r>
            <a:r>
              <a:rPr sz="3200">
                <a:sym typeface="+mn-ea"/>
              </a:rPr>
              <a:t>和 </a:t>
            </a:r>
            <a:r>
              <a:rPr lang="en-US" altLang="zh-CN" sz="3200">
                <a:sym typeface="+mn-ea"/>
              </a:rPr>
              <a:t>yafu</a:t>
            </a:r>
            <a:endParaRPr lang="en-US" altLang="zh-CN" sz="3200" dirty="0"/>
          </a:p>
          <a:p>
            <a:endParaRPr lang="zh-CN" altLang="en-US" sz="3200" dirty="0"/>
          </a:p>
        </p:txBody>
      </p:sp>
      <p:pic>
        <p:nvPicPr>
          <p:cNvPr id="4" name="图片 3"/>
          <p:cNvPicPr>
            <a:picLocks noChangeAspect="1"/>
          </p:cNvPicPr>
          <p:nvPr/>
        </p:nvPicPr>
        <p:blipFill>
          <a:blip r:embed="rId3"/>
          <a:stretch>
            <a:fillRect/>
          </a:stretch>
        </p:blipFill>
        <p:spPr>
          <a:xfrm>
            <a:off x="2017395" y="2362835"/>
            <a:ext cx="6560820" cy="4734560"/>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逻辑手段</a:t>
            </a:r>
          </a:p>
        </p:txBody>
      </p:sp>
      <p:sp>
        <p:nvSpPr>
          <p:cNvPr id="2" name="内容占位符 1"/>
          <p:cNvSpPr>
            <a:spLocks noGrp="1"/>
          </p:cNvSpPr>
          <p:nvPr>
            <p:ph idx="1"/>
            <p:custDataLst>
              <p:tags r:id="rId2"/>
            </p:custDataLst>
          </p:nvPr>
        </p:nvSpPr>
        <p:spPr/>
        <p:txBody>
          <a:bodyPr/>
          <a:lstStyle/>
          <a:p>
            <a:r>
              <a:rPr lang="en-US" altLang="zh-CN" sz="2800" dirty="0"/>
              <a:t>|p-q| </a:t>
            </a:r>
            <a:r>
              <a:rPr sz="2800" dirty="0"/>
              <a:t>过小？直接枚举 </a:t>
            </a:r>
            <a:r>
              <a:rPr lang="en-US" altLang="zh-CN" sz="2800" dirty="0"/>
              <a:t>p-q </a:t>
            </a:r>
            <a:r>
              <a:rPr sz="2800" dirty="0"/>
              <a:t>然后求解一元二次方程。</a:t>
            </a:r>
            <a:endParaRPr sz="2800" dirty="0"/>
          </a:p>
          <a:p>
            <a:r>
              <a:rPr sz="2800" dirty="0"/>
              <a:t>加密指数 </a:t>
            </a:r>
            <a:r>
              <a:rPr lang="en-US" altLang="zh-CN" sz="2800" dirty="0"/>
              <a:t>e </a:t>
            </a:r>
            <a:r>
              <a:rPr sz="2800" dirty="0"/>
              <a:t>太小？（比如 </a:t>
            </a:r>
            <a:r>
              <a:rPr lang="en-US" altLang="zh-CN" sz="2800" dirty="0"/>
              <a:t>e=2</a:t>
            </a:r>
            <a:r>
              <a:rPr sz="2800" dirty="0"/>
              <a:t>）枚举溢出的高位。</a:t>
            </a:r>
            <a:endParaRPr sz="2800" dirty="0"/>
          </a:p>
          <a:p>
            <a:endParaRPr sz="2800" dirty="0"/>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Demo7</a:t>
            </a:r>
            <a:r>
              <a:t>：</a:t>
            </a:r>
          </a:p>
        </p:txBody>
      </p:sp>
      <p:sp>
        <p:nvSpPr>
          <p:cNvPr id="2" name="内容占位符 1"/>
          <p:cNvSpPr>
            <a:spLocks noGrp="1"/>
          </p:cNvSpPr>
          <p:nvPr>
            <p:ph idx="1"/>
            <p:custDataLst>
              <p:tags r:id="rId2"/>
            </p:custDataLst>
          </p:nvPr>
        </p:nvSpPr>
        <p:spPr/>
        <p:txBody>
          <a:bodyPr/>
          <a:lstStyle/>
          <a:p>
            <a:r>
              <a:rPr lang="zh-CN" altLang="en-US" sz="2800" dirty="0"/>
              <a:t>详细见代码。</a:t>
            </a:r>
            <a:endParaRPr lang="zh-CN" altLang="en-US" sz="2800" dirty="0"/>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6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6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7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7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7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4318</Words>
  <Application>WPS 演示</Application>
  <PresentationFormat>宽屏</PresentationFormat>
  <Paragraphs>238</Paragraphs>
  <Slides>36</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宋体</vt:lpstr>
      <vt:lpstr>Wingdings</vt:lpstr>
      <vt:lpstr>微软雅黑</vt:lpstr>
      <vt:lpstr>Wingdings</vt:lpstr>
      <vt:lpstr>Arial Unicode MS</vt:lpstr>
      <vt:lpstr>Calibri</vt:lpstr>
      <vt:lpstr>Office 主题​​</vt:lpstr>
      <vt:lpstr>CTF 入门指南（Crypto）</vt:lpstr>
      <vt:lpstr>杂耍与知识</vt:lpstr>
      <vt:lpstr>地图与彩蛋</vt:lpstr>
      <vt:lpstr>工具箱</vt:lpstr>
      <vt:lpstr>鸡叫与安全</vt:lpstr>
      <vt:lpstr>编码 vs 加密</vt:lpstr>
      <vt:lpstr>古典密码的把戏</vt:lpstr>
      <vt:lpstr>词频分析</vt:lpstr>
      <vt:lpstr>现代搬运工</vt:lpstr>
      <vt:lpstr>自定义编码？</vt:lpstr>
      <vt:lpstr>Demo1</vt:lpstr>
      <vt:lpstr>Demo2</vt:lpstr>
      <vt:lpstr>哈希：榨汁</vt:lpstr>
      <vt:lpstr>雪崩效应</vt:lpstr>
      <vt:lpstr>破解方法：撞</vt:lpstr>
      <vt:lpstr>Demo3</vt:lpstr>
      <vt:lpstr>Demo4：sha256 机制展示</vt:lpstr>
      <vt:lpstr>随机的真相</vt:lpstr>
      <vt:lpstr>如何模拟随机?</vt:lpstr>
      <vt:lpstr>MT19937</vt:lpstr>
      <vt:lpstr>Demo5：使用 randcrack 爆破</vt:lpstr>
      <vt:lpstr>生成模 n 整数的细节</vt:lpstr>
      <vt:lpstr>如何生成密码学安全的随机数？</vt:lpstr>
      <vt:lpstr>不安全的信道</vt:lpstr>
      <vt:lpstr>非对称加密：挂锁</vt:lpstr>
      <vt:lpstr>对称加密：流加密与块加密</vt:lpstr>
      <vt:lpstr>块加密的模式：ECB</vt:lpstr>
      <vt:lpstr>块加密的模式：CBC</vt:lpstr>
      <vt:lpstr>块加密的模式：CTR</vt:lpstr>
      <vt:lpstr>非对称加密：RSA</vt:lpstr>
      <vt:lpstr>RSA 利用了什么</vt:lpstr>
      <vt:lpstr>RSA 怎么做的？</vt:lpstr>
      <vt:lpstr>攻击手段：工具</vt:lpstr>
      <vt:lpstr>Demo6：</vt:lpstr>
      <vt:lpstr>逻辑手段</vt:lpstr>
      <vt:lpstr>Demo7：</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wib</cp:lastModifiedBy>
  <cp:revision>215</cp:revision>
  <dcterms:created xsi:type="dcterms:W3CDTF">2019-06-19T02:08:00Z</dcterms:created>
  <dcterms:modified xsi:type="dcterms:W3CDTF">2026-01-11T22:42:17Z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